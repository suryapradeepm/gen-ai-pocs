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281" r:id="rId5"/>
    <p:sldId id="284" r:id="rId6"/>
    <p:sldId id="279" r:id="rId7"/>
    <p:sldId id="293" r:id="rId8"/>
    <p:sldId id="277" r:id="rId9"/>
    <p:sldId id="266" r:id="rId10"/>
    <p:sldId id="294" r:id="rId11"/>
    <p:sldId id="295" r:id="rId12"/>
    <p:sldId id="296" r:id="rId13"/>
    <p:sldId id="297" r:id="rId14"/>
    <p:sldId id="298" r:id="rId15"/>
    <p:sldId id="28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7957"/>
    <a:srgbClr val="E6965B"/>
    <a:srgbClr val="2C12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879" autoAdjust="0"/>
  </p:normalViewPr>
  <p:slideViewPr>
    <p:cSldViewPr snapToGrid="0">
      <p:cViewPr varScale="1">
        <p:scale>
          <a:sx n="111" d="100"/>
          <a:sy n="111" d="100"/>
        </p:scale>
        <p:origin x="534" y="10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11/30/2024</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11/30/2024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0C0E-9AC4-CCF6-A581-855D244466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84373-A5DB-741B-815F-60B2BE670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9E957-F88A-C11B-42F2-F227F57D8C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DACF34-4DA5-F489-4A28-A1992D7524A1}"/>
              </a:ext>
            </a:extLst>
          </p:cNvPr>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2240317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2986387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6B57F-01FE-8C69-A114-6B88E9B38E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0FE465-723C-B8A3-DA60-B2D04676BE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CCF7A6-7F7F-1838-E104-C21AD69967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5395B5-5518-D8DA-323B-5AEA67E1036C}"/>
              </a:ext>
            </a:extLst>
          </p:cNvPr>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782559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895EA-FD53-2087-3C96-05F59CD6F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D119A-35F6-59C1-27ED-DC3DF9C6A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731C7-B85E-8CB4-4437-D80CA61F66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D87E89-96D2-0024-68AA-216F2117EFB3}"/>
              </a:ext>
            </a:extLst>
          </p:cNvPr>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3235121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E94DC-0645-F5C0-B073-F241D29B8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F2075-FE13-B51E-BB73-D43D774931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17707-B847-E04D-675F-8B64D421C0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E50055-F796-91C7-0069-19241DB5B5EB}"/>
              </a:ext>
            </a:extLst>
          </p:cNvPr>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2366044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813E6-C09A-7159-6B3B-C553D8358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084A8-2E45-4389-0F46-DF9C1CC73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79872-7EFB-8BE3-F788-65BBE1FCF9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677137-CFE7-8C4D-1B86-167B4FB97475}"/>
              </a:ext>
            </a:extLst>
          </p:cNvPr>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3658986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41962-69A5-FC72-B444-3DA619013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2FA5A-5264-5E01-41C2-38C6FCEE1D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2EDDB1-1C70-50ED-0038-0C2FFB8749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614A9F-E358-207D-4C2A-102F859BABD0}"/>
              </a:ext>
            </a:extLst>
          </p:cNvPr>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1007885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11/30/2024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11/30/2024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11/30/2024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11/30/2024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11/30/2024</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11/30/2024</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5" name="Subtitle 5">
            <a:extLst>
              <a:ext uri="{FF2B5EF4-FFF2-40B4-BE49-F238E27FC236}">
                <a16:creationId xmlns:a16="http://schemas.microsoft.com/office/drawing/2014/main" id="{A9ABF2EB-9BEB-D29A-7BB4-6D1E8CE97CCE}"/>
              </a:ext>
            </a:extLst>
          </p:cNvPr>
          <p:cNvSpPr txBox="1">
            <a:spLocks/>
          </p:cNvSpPr>
          <p:nvPr/>
        </p:nvSpPr>
        <p:spPr>
          <a:xfrm>
            <a:off x="397574" y="2687002"/>
            <a:ext cx="8024050" cy="14839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dirty="0">
                <a:solidFill>
                  <a:schemeClr val="bg1"/>
                </a:solidFill>
                <a:latin typeface="Khmer UI" panose="020B0502040204020203" pitchFamily="34" charset="0"/>
                <a:cs typeface="Khmer UI" panose="020B0502040204020203" pitchFamily="34" charset="0"/>
              </a:rPr>
              <a:t>Prompt Engineering 101</a:t>
            </a:r>
          </a:p>
          <a:p>
            <a:endParaRPr lang="en-US" dirty="0">
              <a:latin typeface="Khmer UI" panose="020B0502040204020203" pitchFamily="34" charset="0"/>
              <a:cs typeface="Khmer UI" panose="020B0502040204020203" pitchFamily="34" charset="0"/>
            </a:endParaRPr>
          </a:p>
          <a:p>
            <a:pPr marL="0" indent="0">
              <a:buNone/>
            </a:pPr>
            <a:r>
              <a:rPr lang="en-US" dirty="0">
                <a:solidFill>
                  <a:srgbClr val="E6965B"/>
                </a:solidFill>
                <a:latin typeface="Khmer UI" panose="020B0502040204020203" pitchFamily="34" charset="0"/>
                <a:cs typeface="Khmer UI" panose="020B0502040204020203" pitchFamily="34" charset="0"/>
              </a:rPr>
              <a:t>“Better Input, Better Output !”</a:t>
            </a:r>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6562816" y="457200"/>
            <a:ext cx="4837176" cy="1993392"/>
          </a:xfrm>
          <a:noFill/>
        </p:spPr>
        <p:txBody>
          <a:bodyPr anchor="b">
            <a:noAutofit/>
          </a:bodyPr>
          <a:lstStyle/>
          <a:p>
            <a:r>
              <a:rPr lang="en-US" b="1" dirty="0">
                <a:solidFill>
                  <a:srgbClr val="2C1240"/>
                </a:solidFill>
                <a:latin typeface="Khmer UI" panose="020B0502040204020203" pitchFamily="34" charset="0"/>
                <a:cs typeface="Khmer UI" panose="020B0502040204020203" pitchFamily="34" charset="0"/>
              </a:rPr>
              <a:t>AGENDA</a:t>
            </a:r>
          </a:p>
        </p:txBody>
      </p:sp>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a:xfrm>
            <a:off x="-28882" y="0"/>
            <a:ext cx="6115050" cy="6858000"/>
          </a:xfrm>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6562818" y="2752344"/>
            <a:ext cx="5397534" cy="3136392"/>
          </a:xfrm>
          <a:noFill/>
        </p:spPr>
        <p:txBody>
          <a:bodyPr anchor="t">
            <a:normAutofit fontScale="92500"/>
          </a:bodyPr>
          <a:lstStyle/>
          <a:p>
            <a:pPr marL="285750" indent="-285750">
              <a:buFont typeface="Arial" panose="020B0604020202020204" pitchFamily="34" charset="0"/>
              <a:buChar char="•"/>
            </a:pPr>
            <a:r>
              <a:rPr lang="en-US" dirty="0">
                <a:solidFill>
                  <a:srgbClr val="D17957"/>
                </a:solidFill>
                <a:latin typeface="Khmer UI" panose="020B0502040204020203" pitchFamily="34" charset="0"/>
                <a:cs typeface="Khmer UI" panose="020B0502040204020203" pitchFamily="34" charset="0"/>
              </a:rPr>
              <a:t>What is a prompt?</a:t>
            </a:r>
          </a:p>
          <a:p>
            <a:pPr marL="285750" indent="-285750">
              <a:buFont typeface="Arial" panose="020B0604020202020204" pitchFamily="34" charset="0"/>
              <a:buChar char="•"/>
            </a:pPr>
            <a:r>
              <a:rPr lang="en-US" dirty="0">
                <a:solidFill>
                  <a:srgbClr val="D17957"/>
                </a:solidFill>
                <a:latin typeface="Khmer UI" panose="020B0502040204020203" pitchFamily="34" charset="0"/>
                <a:cs typeface="Khmer UI" panose="020B0502040204020203" pitchFamily="34" charset="0"/>
              </a:rPr>
              <a:t>The case for Prompt Engineering</a:t>
            </a:r>
          </a:p>
          <a:p>
            <a:pPr marL="285750" indent="-285750">
              <a:buFont typeface="Arial" panose="020B0604020202020204" pitchFamily="34" charset="0"/>
              <a:buChar char="•"/>
            </a:pPr>
            <a:r>
              <a:rPr lang="en-US" dirty="0">
                <a:solidFill>
                  <a:srgbClr val="D17957"/>
                </a:solidFill>
                <a:latin typeface="Khmer UI" panose="020B0502040204020203" pitchFamily="34" charset="0"/>
                <a:cs typeface="Khmer UI" panose="020B0502040204020203" pitchFamily="34" charset="0"/>
              </a:rPr>
              <a:t>Co-STAR Approach</a:t>
            </a:r>
          </a:p>
          <a:p>
            <a:pPr marL="285750" indent="-285750">
              <a:buFont typeface="Arial" panose="020B0604020202020204" pitchFamily="34" charset="0"/>
              <a:buChar char="•"/>
            </a:pPr>
            <a:r>
              <a:rPr lang="en-US" dirty="0">
                <a:solidFill>
                  <a:srgbClr val="D17957"/>
                </a:solidFill>
                <a:latin typeface="Khmer UI" panose="020B0502040204020203" pitchFamily="34" charset="0"/>
                <a:cs typeface="Khmer UI" panose="020B0502040204020203" pitchFamily="34" charset="0"/>
              </a:rPr>
              <a:t>Best Practices</a:t>
            </a:r>
          </a:p>
          <a:p>
            <a:pPr marL="285750" indent="-285750">
              <a:buFont typeface="Arial" panose="020B0604020202020204" pitchFamily="34" charset="0"/>
              <a:buChar char="•"/>
            </a:pPr>
            <a:r>
              <a:rPr lang="en-US" dirty="0">
                <a:solidFill>
                  <a:srgbClr val="D17957"/>
                </a:solidFill>
                <a:latin typeface="Khmer UI" panose="020B0502040204020203" pitchFamily="34" charset="0"/>
                <a:cs typeface="Khmer UI" panose="020B0502040204020203" pitchFamily="34" charset="0"/>
              </a:rPr>
              <a:t>Examples of Effective Prompts</a:t>
            </a:r>
          </a:p>
          <a:p>
            <a:pPr marL="285750" indent="-285750">
              <a:buFont typeface="Arial" panose="020B0604020202020204" pitchFamily="34" charset="0"/>
              <a:buChar char="•"/>
            </a:pPr>
            <a:r>
              <a:rPr lang="en-US" dirty="0">
                <a:solidFill>
                  <a:srgbClr val="D17957"/>
                </a:solidFill>
                <a:latin typeface="Khmer UI" panose="020B0502040204020203" pitchFamily="34" charset="0"/>
                <a:cs typeface="Khmer UI" panose="020B0502040204020203" pitchFamily="34" charset="0"/>
              </a:rPr>
              <a:t>Q &amp; A</a:t>
            </a:r>
          </a:p>
        </p:txBody>
      </p:sp>
    </p:spTree>
    <p:extLst>
      <p:ext uri="{BB962C8B-B14F-4D97-AF65-F5344CB8AC3E}">
        <p14:creationId xmlns:p14="http://schemas.microsoft.com/office/powerpoint/2010/main" val="167201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1C1BB024-6B3A-51D5-F57F-37C0B26CBEB0}"/>
              </a:ext>
            </a:extLst>
          </p:cNvPr>
          <p:cNvSpPr>
            <a:spLocks noGrp="1"/>
          </p:cNvSpPr>
          <p:nvPr>
            <p:ph type="title"/>
          </p:nvPr>
        </p:nvSpPr>
        <p:spPr>
          <a:xfrm>
            <a:off x="603568" y="560146"/>
            <a:ext cx="10750232" cy="513080"/>
          </a:xfrm>
        </p:spPr>
        <p:txBody>
          <a:bodyPr>
            <a:normAutofit fontScale="90000"/>
          </a:bodyPr>
          <a:lstStyle/>
          <a:p>
            <a:pPr algn="l"/>
            <a:r>
              <a:rPr lang="en-US" b="1" dirty="0">
                <a:solidFill>
                  <a:srgbClr val="E6965B"/>
                </a:solidFill>
                <a:latin typeface="Khmer UI" panose="020B0502040204020203" pitchFamily="34" charset="0"/>
                <a:cs typeface="Khmer UI" panose="020B0502040204020203" pitchFamily="34" charset="0"/>
              </a:rPr>
              <a:t>Promptology 101: What even is a Prompt ?!</a:t>
            </a:r>
          </a:p>
        </p:txBody>
      </p:sp>
      <p:sp>
        <p:nvSpPr>
          <p:cNvPr id="13" name="Content Placeholder 6">
            <a:extLst>
              <a:ext uri="{FF2B5EF4-FFF2-40B4-BE49-F238E27FC236}">
                <a16:creationId xmlns:a16="http://schemas.microsoft.com/office/drawing/2014/main" id="{1BD91459-B461-8FE1-68C7-05CA1B73237D}"/>
              </a:ext>
            </a:extLst>
          </p:cNvPr>
          <p:cNvSpPr txBox="1">
            <a:spLocks/>
          </p:cNvSpPr>
          <p:nvPr/>
        </p:nvSpPr>
        <p:spPr>
          <a:xfrm>
            <a:off x="603568" y="1517489"/>
            <a:ext cx="10750232" cy="1002030"/>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2C1240"/>
                </a:solidFill>
                <a:latin typeface="Khmer UI" panose="020B0502040204020203" pitchFamily="34" charset="0"/>
                <a:cs typeface="Khmer UI" panose="020B0502040204020203" pitchFamily="34" charset="0"/>
              </a:rPr>
              <a:t>Prompting: Articulate Your Wishes and Watch Them Come True!</a:t>
            </a:r>
          </a:p>
          <a:p>
            <a:r>
              <a:rPr lang="en-US" sz="1800" dirty="0">
                <a:solidFill>
                  <a:srgbClr val="E6965B"/>
                </a:solidFill>
                <a:latin typeface="Khmer UI" panose="020B0502040204020203" pitchFamily="34" charset="0"/>
                <a:cs typeface="Khmer UI" panose="020B0502040204020203" pitchFamily="34" charset="0"/>
              </a:rPr>
              <a:t>If you think of Gen AI as the Genie in Aladdin's lamp – your prompts are the carefully crafted wishes that guide the “Genie in the Cloud” to deliver precisely what you need.</a:t>
            </a:r>
          </a:p>
        </p:txBody>
      </p:sp>
      <p:sp>
        <p:nvSpPr>
          <p:cNvPr id="14" name="Slide Number Placeholder 4">
            <a:extLst>
              <a:ext uri="{FF2B5EF4-FFF2-40B4-BE49-F238E27FC236}">
                <a16:creationId xmlns:a16="http://schemas.microsoft.com/office/drawing/2014/main" id="{266BFA17-6EEF-E2FA-998B-75906E9B8DC8}"/>
              </a:ext>
            </a:extLst>
          </p:cNvPr>
          <p:cNvSpPr>
            <a:spLocks noGrp="1"/>
          </p:cNvSpPr>
          <p:nvPr>
            <p:ph type="sldNum" sz="quarter" idx="12"/>
          </p:nvPr>
        </p:nvSpPr>
        <p:spPr>
          <a:xfrm>
            <a:off x="8610600" y="6356350"/>
            <a:ext cx="2743200" cy="365125"/>
          </a:xfrm>
        </p:spPr>
        <p:txBody>
          <a:bodyPr/>
          <a:lstStyle/>
          <a:p>
            <a:fld id="{03CB0E19-F4C8-4F98-96D2-CE1ECDE59975}" type="slidenum">
              <a:rPr lang="en-GB" smtClean="0"/>
              <a:t>3</a:t>
            </a:fld>
            <a:endParaRPr lang="en-GB"/>
          </a:p>
        </p:txBody>
      </p:sp>
      <p:sp>
        <p:nvSpPr>
          <p:cNvPr id="15" name="TextBox 14">
            <a:extLst>
              <a:ext uri="{FF2B5EF4-FFF2-40B4-BE49-F238E27FC236}">
                <a16:creationId xmlns:a16="http://schemas.microsoft.com/office/drawing/2014/main" id="{A16628E0-31F1-F918-9AFC-8C623C351283}"/>
              </a:ext>
            </a:extLst>
          </p:cNvPr>
          <p:cNvSpPr txBox="1"/>
          <p:nvPr/>
        </p:nvSpPr>
        <p:spPr>
          <a:xfrm>
            <a:off x="603568" y="2945684"/>
            <a:ext cx="10542968" cy="2984500"/>
          </a:xfrm>
          <a:prstGeom prst="rect">
            <a:avLst/>
          </a:prstGeom>
          <a:noFill/>
        </p:spPr>
        <p:txBody>
          <a:bodyPr wrap="square" rtlCol="0">
            <a:spAutoFit/>
          </a:bodyPr>
          <a:lstStyle/>
          <a:p>
            <a:pPr marL="285750" indent="-285750">
              <a:buSzPct val="80000"/>
              <a:buFont typeface="Wingdings" panose="05000000000000000000" charset="0"/>
              <a:buChar char="q"/>
            </a:pPr>
            <a:r>
              <a:rPr lang="en-US" sz="1750" b="1" dirty="0">
                <a:solidFill>
                  <a:srgbClr val="E6965B"/>
                </a:solidFill>
                <a:latin typeface="Khmer UI" panose="020B0502040204020203" pitchFamily="34" charset="0"/>
                <a:cs typeface="Khmer UI" panose="020B0502040204020203" pitchFamily="34" charset="0"/>
              </a:rPr>
              <a:t>Prompt</a:t>
            </a:r>
            <a:r>
              <a:rPr lang="en-US" sz="1700" b="1" dirty="0">
                <a:solidFill>
                  <a:srgbClr val="2C1240"/>
                </a:solidFill>
                <a:latin typeface="Khmer UI" panose="020B0502040204020203" pitchFamily="34" charset="0"/>
                <a:cs typeface="Khmer UI" panose="020B0502040204020203" pitchFamily="34" charset="0"/>
              </a:rPr>
              <a:t>:</a:t>
            </a:r>
            <a:r>
              <a:rPr lang="en-US" sz="1700" dirty="0">
                <a:solidFill>
                  <a:srgbClr val="2C1240"/>
                </a:solidFill>
                <a:latin typeface="Khmer UI" panose="020B0502040204020203" pitchFamily="34" charset="0"/>
                <a:cs typeface="Khmer UI" panose="020B0502040204020203" pitchFamily="34" charset="0"/>
              </a:rPr>
              <a:t> A prompt is a </a:t>
            </a:r>
            <a:r>
              <a:rPr lang="en-US" sz="1700" b="1" dirty="0">
                <a:solidFill>
                  <a:srgbClr val="2C1240"/>
                </a:solidFill>
                <a:latin typeface="Khmer UI" panose="020B0502040204020203" pitchFamily="34" charset="0"/>
                <a:cs typeface="Khmer UI" panose="020B0502040204020203" pitchFamily="34" charset="0"/>
              </a:rPr>
              <a:t>carefully crafted instruction</a:t>
            </a:r>
            <a:r>
              <a:rPr lang="en-US" sz="1700" dirty="0">
                <a:solidFill>
                  <a:srgbClr val="2C1240"/>
                </a:solidFill>
                <a:latin typeface="Khmer UI" panose="020B0502040204020203" pitchFamily="34" charset="0"/>
                <a:cs typeface="Khmer UI" panose="020B0502040204020203" pitchFamily="34" charset="0"/>
              </a:rPr>
              <a:t> or question that you give to an AI model like an LLM to get a desired response.</a:t>
            </a:r>
          </a:p>
          <a:p>
            <a:pPr marL="742950" lvl="1" indent="-28575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It’s akin to whispering your wishes to the genie – the </a:t>
            </a:r>
            <a:r>
              <a:rPr lang="en-US" sz="1700" b="1" dirty="0">
                <a:solidFill>
                  <a:srgbClr val="2C1240"/>
                </a:solidFill>
                <a:latin typeface="Khmer UI" panose="020B0502040204020203" pitchFamily="34" charset="0"/>
                <a:cs typeface="Khmer UI" panose="020B0502040204020203" pitchFamily="34" charset="0"/>
              </a:rPr>
              <a:t>clearer </a:t>
            </a:r>
            <a:r>
              <a:rPr lang="en-US" sz="1700" dirty="0">
                <a:solidFill>
                  <a:srgbClr val="2C1240"/>
                </a:solidFill>
                <a:latin typeface="Khmer UI" panose="020B0502040204020203" pitchFamily="34" charset="0"/>
                <a:cs typeface="Khmer UI" panose="020B0502040204020203" pitchFamily="34" charset="0"/>
              </a:rPr>
              <a:t>and more </a:t>
            </a:r>
            <a:r>
              <a:rPr lang="en-US" sz="1700" b="1" dirty="0">
                <a:solidFill>
                  <a:srgbClr val="2C1240"/>
                </a:solidFill>
                <a:latin typeface="Khmer UI" panose="020B0502040204020203" pitchFamily="34" charset="0"/>
                <a:cs typeface="Khmer UI" panose="020B0502040204020203" pitchFamily="34" charset="0"/>
              </a:rPr>
              <a:t>specific </a:t>
            </a:r>
            <a:r>
              <a:rPr lang="en-US" sz="1700" dirty="0">
                <a:solidFill>
                  <a:srgbClr val="2C1240"/>
                </a:solidFill>
                <a:latin typeface="Khmer UI" panose="020B0502040204020203" pitchFamily="34" charset="0"/>
                <a:cs typeface="Khmer UI" panose="020B0502040204020203" pitchFamily="34" charset="0"/>
              </a:rPr>
              <a:t>your wish (or prompt), the better the outcome.</a:t>
            </a:r>
            <a:r>
              <a:rPr lang="en-US" sz="1700" b="1" dirty="0">
                <a:solidFill>
                  <a:srgbClr val="2C1240"/>
                </a:solidFill>
                <a:latin typeface="Khmer UI" panose="020B0502040204020203" pitchFamily="34" charset="0"/>
                <a:cs typeface="Khmer UI" panose="020B0502040204020203" pitchFamily="34" charset="0"/>
              </a:rPr>
              <a:t> </a:t>
            </a:r>
          </a:p>
          <a:p>
            <a:pPr marL="285750" indent="-285750">
              <a:buFont typeface="Wingdings" panose="05000000000000000000" charset="0"/>
              <a:buChar char="§"/>
            </a:pPr>
            <a:endParaRPr lang="en-US" sz="1700" b="1" dirty="0">
              <a:solidFill>
                <a:srgbClr val="2C1240"/>
              </a:solidFill>
              <a:latin typeface="Khmer UI" panose="020B0502040204020203" pitchFamily="34" charset="0"/>
              <a:cs typeface="Khmer UI" panose="020B0502040204020203" pitchFamily="34" charset="0"/>
            </a:endParaRPr>
          </a:p>
          <a:p>
            <a:pPr marL="285750" indent="-285750">
              <a:buSzPct val="80000"/>
              <a:buFont typeface="Wingdings" panose="05000000000000000000" charset="0"/>
              <a:buChar char="q"/>
            </a:pPr>
            <a:r>
              <a:rPr lang="en-US" sz="1750" b="1" dirty="0">
                <a:solidFill>
                  <a:srgbClr val="E6965B"/>
                </a:solidFill>
                <a:latin typeface="Khmer UI" panose="020B0502040204020203" pitchFamily="34" charset="0"/>
                <a:cs typeface="Khmer UI" panose="020B0502040204020203" pitchFamily="34" charset="0"/>
              </a:rPr>
              <a:t>LLM</a:t>
            </a:r>
            <a:r>
              <a:rPr lang="en-US" sz="1700" b="1" dirty="0">
                <a:solidFill>
                  <a:srgbClr val="2C1240"/>
                </a:solidFill>
                <a:latin typeface="Khmer UI" panose="020B0502040204020203" pitchFamily="34" charset="0"/>
                <a:cs typeface="Khmer UI" panose="020B0502040204020203" pitchFamily="34" charset="0"/>
              </a:rPr>
              <a:t>: </a:t>
            </a:r>
            <a:r>
              <a:rPr lang="en-US" sz="1700" dirty="0">
                <a:solidFill>
                  <a:srgbClr val="2C1240"/>
                </a:solidFill>
                <a:latin typeface="Khmer UI" panose="020B0502040204020203" pitchFamily="34" charset="0"/>
                <a:cs typeface="Khmer UI" panose="020B0502040204020203" pitchFamily="34" charset="0"/>
              </a:rPr>
              <a:t>An LLM, or Large Language Model, is a sophisticated AI that has been trained on an enormous amount of textual data. It’s like a “smart brain in the cloud” that understands and generates human-like text.</a:t>
            </a:r>
          </a:p>
          <a:p>
            <a:pPr marL="742950" lvl="1" indent="-28575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These models can comprehend text, answer questions, generate creative content, and even engage in conversation</a:t>
            </a:r>
          </a:p>
          <a:p>
            <a:pPr marL="742950" lvl="1" indent="-28575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Essentially, LLMs are the “genies” that interpret your prompts and try to fulfill your requests.</a:t>
            </a:r>
          </a:p>
        </p:txBody>
      </p:sp>
    </p:spTree>
    <p:extLst>
      <p:ext uri="{BB962C8B-B14F-4D97-AF65-F5344CB8AC3E}">
        <p14:creationId xmlns:p14="http://schemas.microsoft.com/office/powerpoint/2010/main" val="2243159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49453-C4E3-46E2-EC1E-FA4AC0C5EAB2}"/>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05ED5225-7B23-57D9-E782-2C38F3C2329D}"/>
              </a:ext>
            </a:extLst>
          </p:cNvPr>
          <p:cNvSpPr>
            <a:spLocks noGrp="1"/>
          </p:cNvSpPr>
          <p:nvPr>
            <p:ph type="title"/>
          </p:nvPr>
        </p:nvSpPr>
        <p:spPr>
          <a:xfrm>
            <a:off x="604838" y="353758"/>
            <a:ext cx="10861738" cy="622901"/>
          </a:xfrm>
        </p:spPr>
        <p:txBody>
          <a:bodyPr>
            <a:normAutofit fontScale="90000"/>
          </a:bodyPr>
          <a:lstStyle/>
          <a:p>
            <a:pPr algn="l"/>
            <a:r>
              <a:rPr lang="en-US" b="1" dirty="0">
                <a:solidFill>
                  <a:srgbClr val="D17957"/>
                </a:solidFill>
                <a:latin typeface="Khmer UI" panose="020B0502040204020203" pitchFamily="34" charset="0"/>
                <a:cs typeface="Khmer UI" panose="020B0502040204020203" pitchFamily="34" charset="0"/>
              </a:rPr>
              <a:t>Unlocking the Magic:</a:t>
            </a:r>
            <a:br>
              <a:rPr lang="en-US" b="1" dirty="0">
                <a:solidFill>
                  <a:srgbClr val="D17957"/>
                </a:solidFill>
                <a:latin typeface="Khmer UI" panose="020B0502040204020203" pitchFamily="34" charset="0"/>
                <a:cs typeface="Khmer UI" panose="020B0502040204020203" pitchFamily="34" charset="0"/>
              </a:rPr>
            </a:br>
            <a:r>
              <a:rPr lang="en-US" b="1" dirty="0">
                <a:solidFill>
                  <a:srgbClr val="D17957"/>
                </a:solidFill>
                <a:latin typeface="Khmer UI" panose="020B0502040204020203" pitchFamily="34" charset="0"/>
                <a:cs typeface="Khmer UI" panose="020B0502040204020203" pitchFamily="34" charset="0"/>
              </a:rPr>
              <a:t>The case for Prompt Engineering</a:t>
            </a:r>
          </a:p>
        </p:txBody>
      </p:sp>
      <p:sp>
        <p:nvSpPr>
          <p:cNvPr id="5" name="Slide Number Placeholder 4">
            <a:extLst>
              <a:ext uri="{FF2B5EF4-FFF2-40B4-BE49-F238E27FC236}">
                <a16:creationId xmlns:a16="http://schemas.microsoft.com/office/drawing/2014/main" id="{A3769D98-FC7F-02ED-02A9-A3BD304564CD}"/>
              </a:ext>
            </a:extLst>
          </p:cNvPr>
          <p:cNvSpPr>
            <a:spLocks noGrp="1"/>
          </p:cNvSpPr>
          <p:nvPr>
            <p:ph type="sldNum" sz="quarter" idx="12"/>
          </p:nvPr>
        </p:nvSpPr>
        <p:spPr>
          <a:xfrm>
            <a:off x="8610600" y="6356350"/>
            <a:ext cx="2743200" cy="365125"/>
          </a:xfrm>
        </p:spPr>
        <p:txBody>
          <a:bodyPr/>
          <a:lstStyle/>
          <a:p>
            <a:fld id="{03CB0E19-F4C8-4F98-96D2-CE1ECDE59975}" type="slidenum">
              <a:rPr lang="en-GB" smtClean="0"/>
              <a:t>4</a:t>
            </a:fld>
            <a:endParaRPr lang="en-GB" dirty="0"/>
          </a:p>
        </p:txBody>
      </p:sp>
      <p:sp>
        <p:nvSpPr>
          <p:cNvPr id="6" name="TextBox 5">
            <a:extLst>
              <a:ext uri="{FF2B5EF4-FFF2-40B4-BE49-F238E27FC236}">
                <a16:creationId xmlns:a16="http://schemas.microsoft.com/office/drawing/2014/main" id="{8855C171-577A-4577-85F9-FE147E94B27B}"/>
              </a:ext>
            </a:extLst>
          </p:cNvPr>
          <p:cNvSpPr txBox="1"/>
          <p:nvPr/>
        </p:nvSpPr>
        <p:spPr>
          <a:xfrm>
            <a:off x="604838" y="1337614"/>
            <a:ext cx="10514266" cy="4928235"/>
          </a:xfrm>
          <a:prstGeom prst="rect">
            <a:avLst/>
          </a:prstGeom>
          <a:noFill/>
        </p:spPr>
        <p:txBody>
          <a:bodyPr wrap="square" rtlCol="0">
            <a:spAutoFit/>
          </a:bodyPr>
          <a:lstStyle/>
          <a:p>
            <a:pPr indent="0">
              <a:buSzPct val="80000"/>
              <a:buFont typeface="Wingdings" panose="05000000000000000000" charset="0"/>
              <a:buNone/>
            </a:pPr>
            <a:r>
              <a:rPr lang="en-US" sz="1750" b="1" dirty="0">
                <a:solidFill>
                  <a:srgbClr val="2C1240"/>
                </a:solidFill>
                <a:latin typeface="Khmer UI" panose="020B0502040204020203" pitchFamily="34" charset="0"/>
                <a:cs typeface="Khmer UI" panose="020B0502040204020203" pitchFamily="34" charset="0"/>
              </a:rPr>
              <a:t>Better Input Better Output: </a:t>
            </a:r>
            <a:r>
              <a:rPr lang="en-US" sz="1750" dirty="0">
                <a:solidFill>
                  <a:srgbClr val="2C1240"/>
                </a:solidFill>
                <a:latin typeface="Khmer UI" panose="020B0502040204020203" pitchFamily="34" charset="0"/>
                <a:cs typeface="Khmer UI" panose="020B0502040204020203" pitchFamily="34" charset="0"/>
              </a:rPr>
              <a:t>Prompt engineering is crucial because the quality of the input significantly impacts the quality of the output when working with AI models like LLMs.</a:t>
            </a:r>
          </a:p>
          <a:p>
            <a:pPr indent="0">
              <a:buSzPct val="80000"/>
              <a:buFont typeface="Wingdings" panose="05000000000000000000" charset="0"/>
              <a:buNone/>
            </a:pPr>
            <a:endParaRPr lang="en-US" sz="1750" b="1"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q"/>
            </a:pPr>
            <a:r>
              <a:rPr lang="en-US" sz="1750" b="1" dirty="0">
                <a:solidFill>
                  <a:srgbClr val="2C1240"/>
                </a:solidFill>
                <a:latin typeface="Khmer UI" panose="020B0502040204020203" pitchFamily="34" charset="0"/>
                <a:cs typeface="Khmer UI" panose="020B0502040204020203" pitchFamily="34" charset="0"/>
              </a:rPr>
              <a:t>Unlocking AI’s Potential</a:t>
            </a:r>
            <a:r>
              <a:rPr lang="en-US" sz="1700" b="1" dirty="0">
                <a:solidFill>
                  <a:srgbClr val="2C1240"/>
                </a:solidFill>
                <a:latin typeface="Khmer UI" panose="020B0502040204020203" pitchFamily="34" charset="0"/>
                <a:cs typeface="Khmer UI" panose="020B0502040204020203" pitchFamily="34" charset="0"/>
              </a:rPr>
              <a:t>:</a:t>
            </a:r>
            <a:r>
              <a:rPr lang="en-US" sz="1700" dirty="0">
                <a:solidFill>
                  <a:srgbClr val="2C1240"/>
                </a:solidFill>
                <a:latin typeface="Khmer UI" panose="020B0502040204020203" pitchFamily="34" charset="0"/>
                <a:cs typeface="Khmer UI" panose="020B0502040204020203" pitchFamily="34" charset="0"/>
              </a:rPr>
              <a:t> Like a key to a treasure chest, well-designed prompts can unlock the full capabilities of AI systems.</a:t>
            </a: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rPr>
              <a:t>Bridging the communication gap:</a:t>
            </a:r>
            <a:r>
              <a:rPr lang="en-US" sz="1700" dirty="0">
                <a:solidFill>
                  <a:srgbClr val="2C1240"/>
                </a:solidFill>
                <a:latin typeface="Khmer UI" panose="020B0502040204020203" pitchFamily="34" charset="0"/>
                <a:cs typeface="Khmer UI" panose="020B0502040204020203" pitchFamily="34" charset="0"/>
              </a:rPr>
              <a:t> It helps us "speak AI" more fluently, ensuring we get the results we want.</a:t>
            </a: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rPr>
              <a:t>Mitigating AI Hallucinations: </a:t>
            </a:r>
            <a:r>
              <a:rPr lang="en-US" sz="1700" dirty="0">
                <a:solidFill>
                  <a:srgbClr val="2C1240"/>
                </a:solidFill>
                <a:latin typeface="Khmer UI" panose="020B0502040204020203" pitchFamily="34" charset="0"/>
                <a:cs typeface="Khmer UI" panose="020B0502040204020203" pitchFamily="34" charset="0"/>
              </a:rPr>
              <a:t>Well-crafted prompts can mitigate potential issue with all generative models called “AI hallucinations” where the language model generates false information which sounds true. Mitigating this issue is especially critical in fields like medicine where accuracy is paramount.</a:t>
            </a: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rPr>
              <a:t>Efficiency boost:</a:t>
            </a:r>
            <a:r>
              <a:rPr lang="en-US" sz="1700" dirty="0">
                <a:solidFill>
                  <a:srgbClr val="2C1240"/>
                </a:solidFill>
                <a:latin typeface="Khmer UI" panose="020B0502040204020203" pitchFamily="34" charset="0"/>
                <a:cs typeface="Khmer UI" panose="020B0502040204020203" pitchFamily="34" charset="0"/>
              </a:rPr>
              <a:t> Good prompts save time and resources by getting accurate results faster.</a:t>
            </a: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rPr>
              <a:t>Customization:</a:t>
            </a:r>
            <a:r>
              <a:rPr lang="en-US" sz="1700" dirty="0">
                <a:solidFill>
                  <a:srgbClr val="2C1240"/>
                </a:solidFill>
                <a:latin typeface="Khmer UI" panose="020B0502040204020203" pitchFamily="34" charset="0"/>
                <a:cs typeface="Khmer UI" panose="020B0502040204020203" pitchFamily="34" charset="0"/>
              </a:rPr>
              <a:t> It allows us to tailor AI outputs to specific needs, like adjusting the tone or style of generated content. By tailoring prompts to a particular field or task, users can get relevant results.</a:t>
            </a: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rPr>
              <a:t>Problem-solving tool:</a:t>
            </a:r>
            <a:r>
              <a:rPr lang="en-US" sz="1700" dirty="0">
                <a:solidFill>
                  <a:srgbClr val="2C1240"/>
                </a:solidFill>
                <a:latin typeface="Khmer UI" panose="020B0502040204020203" pitchFamily="34" charset="0"/>
                <a:cs typeface="Khmer UI" panose="020B0502040204020203" pitchFamily="34" charset="0"/>
              </a:rPr>
              <a:t> Clever prompting can help tackle complex issues by breaking them down into manageable parts.</a:t>
            </a: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rPr>
              <a:t>Accessibility:</a:t>
            </a:r>
            <a:r>
              <a:rPr lang="en-US" sz="1700" dirty="0">
                <a:solidFill>
                  <a:srgbClr val="2C1240"/>
                </a:solidFill>
                <a:latin typeface="Khmer UI" panose="020B0502040204020203" pitchFamily="34" charset="0"/>
                <a:cs typeface="Khmer UI" panose="020B0502040204020203" pitchFamily="34" charset="0"/>
              </a:rPr>
              <a:t> It empowers non-technical users to harness AI's power without coding skills.</a:t>
            </a:r>
          </a:p>
          <a:p>
            <a:pPr marL="285750" indent="-285750">
              <a:buSzPct val="80000"/>
              <a:buFont typeface="Wingdings" panose="05000000000000000000" charset="0"/>
              <a:buChar char="q"/>
            </a:pPr>
            <a:endParaRPr lang="en-US" sz="1700" dirty="0">
              <a:solidFill>
                <a:srgbClr val="2C1240"/>
              </a:solidFill>
              <a:latin typeface="Khmer UI" panose="020B0502040204020203" pitchFamily="34" charset="0"/>
              <a:cs typeface="Khmer UI" panose="020B0502040204020203" pitchFamily="34" charset="0"/>
            </a:endParaRPr>
          </a:p>
        </p:txBody>
      </p:sp>
    </p:spTree>
    <p:extLst>
      <p:ext uri="{BB962C8B-B14F-4D97-AF65-F5344CB8AC3E}">
        <p14:creationId xmlns:p14="http://schemas.microsoft.com/office/powerpoint/2010/main" val="1935511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5" descr="A person looking at blueprints on a brick wall">
            <a:extLst>
              <a:ext uri="{FF2B5EF4-FFF2-40B4-BE49-F238E27FC236}">
                <a16:creationId xmlns:a16="http://schemas.microsoft.com/office/drawing/2014/main" id="{BBD84AA8-495D-1210-1B06-DA73C5BCF36A}"/>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7157" r="27157"/>
          <a:stretch/>
        </p:blipFill>
        <p:spPr>
          <a:xfrm>
            <a:off x="7500938" y="-22225"/>
            <a:ext cx="4714875" cy="6880225"/>
          </a:xfrm>
        </p:spPr>
      </p:pic>
      <p:sp>
        <p:nvSpPr>
          <p:cNvPr id="10" name="Slide Number Placeholder 4">
            <a:extLst>
              <a:ext uri="{FF2B5EF4-FFF2-40B4-BE49-F238E27FC236}">
                <a16:creationId xmlns:a16="http://schemas.microsoft.com/office/drawing/2014/main" id="{37763B93-11DC-3FA7-1C11-0AE2E385939D}"/>
              </a:ext>
            </a:extLst>
          </p:cNvPr>
          <p:cNvSpPr txBox="1">
            <a:spLocks/>
          </p:cNvSpPr>
          <p:nvPr/>
        </p:nvSpPr>
        <p:spPr>
          <a:xfrm>
            <a:off x="4849178" y="6414072"/>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3CB0E19-F4C8-4F98-96D2-CE1ECDE59975}" type="slidenum">
              <a:rPr lang="en-GB" smtClean="0">
                <a:solidFill>
                  <a:schemeClr val="accent6">
                    <a:lumMod val="75000"/>
                  </a:schemeClr>
                </a:solidFill>
              </a:rPr>
              <a:pPr/>
              <a:t>5</a:t>
            </a:fld>
            <a:endParaRPr lang="en-GB" dirty="0">
              <a:solidFill>
                <a:schemeClr val="accent6">
                  <a:lumMod val="75000"/>
                </a:schemeClr>
              </a:solidFill>
            </a:endParaRPr>
          </a:p>
        </p:txBody>
      </p:sp>
      <p:sp>
        <p:nvSpPr>
          <p:cNvPr id="11" name="Title 5">
            <a:extLst>
              <a:ext uri="{FF2B5EF4-FFF2-40B4-BE49-F238E27FC236}">
                <a16:creationId xmlns:a16="http://schemas.microsoft.com/office/drawing/2014/main" id="{0602D62B-B25A-15B6-BE9C-046F9E777B38}"/>
              </a:ext>
            </a:extLst>
          </p:cNvPr>
          <p:cNvSpPr txBox="1"/>
          <p:nvPr/>
        </p:nvSpPr>
        <p:spPr>
          <a:xfrm>
            <a:off x="440246" y="353758"/>
            <a:ext cx="4408932" cy="1081850"/>
          </a:xfrm>
          <a:prstGeom prst="rect">
            <a:avLst/>
          </a:prstGeom>
        </p:spPr>
        <p:txBody>
          <a:bodyPr/>
          <a:lstStyle>
            <a:lvl1pPr algn="l" defTabSz="914400" rtl="0" eaLnBrk="1" latinLnBrk="0" hangingPunct="1">
              <a:lnSpc>
                <a:spcPct val="95000"/>
              </a:lnSpc>
              <a:spcBef>
                <a:spcPct val="0"/>
              </a:spcBef>
              <a:buNone/>
              <a:defRPr sz="3000" b="1" kern="1200">
                <a:solidFill>
                  <a:srgbClr val="002068"/>
                </a:solidFill>
                <a:latin typeface="+mj-lt"/>
                <a:ea typeface="+mj-ea"/>
                <a:cs typeface="+mj-cs"/>
              </a:defRPr>
            </a:lvl1pPr>
          </a:lstStyle>
          <a:p>
            <a:r>
              <a:rPr lang="en-US" dirty="0">
                <a:solidFill>
                  <a:srgbClr val="D17957"/>
                </a:solidFill>
                <a:latin typeface="Khmer UI" panose="020B0502040204020203" pitchFamily="34" charset="0"/>
                <a:cs typeface="Khmer UI" panose="020B0502040204020203" pitchFamily="34" charset="0"/>
              </a:rPr>
              <a:t>CO-STAR Approach to</a:t>
            </a:r>
          </a:p>
          <a:p>
            <a:r>
              <a:rPr lang="en-US" dirty="0">
                <a:solidFill>
                  <a:srgbClr val="D17957"/>
                </a:solidFill>
                <a:latin typeface="Khmer UI" panose="020B0502040204020203" pitchFamily="34" charset="0"/>
                <a:cs typeface="Khmer UI" panose="020B0502040204020203" pitchFamily="34" charset="0"/>
              </a:rPr>
              <a:t>Prompt Engineering</a:t>
            </a:r>
          </a:p>
        </p:txBody>
      </p:sp>
      <p:sp>
        <p:nvSpPr>
          <p:cNvPr id="12" name="TextBox 11">
            <a:extLst>
              <a:ext uri="{FF2B5EF4-FFF2-40B4-BE49-F238E27FC236}">
                <a16:creationId xmlns:a16="http://schemas.microsoft.com/office/drawing/2014/main" id="{E32ACC5B-3F35-FDCE-EA14-436A638B17BD}"/>
              </a:ext>
            </a:extLst>
          </p:cNvPr>
          <p:cNvSpPr txBox="1"/>
          <p:nvPr/>
        </p:nvSpPr>
        <p:spPr>
          <a:xfrm>
            <a:off x="573405" y="1869440"/>
            <a:ext cx="5764530" cy="3119120"/>
          </a:xfrm>
          <a:prstGeom prst="rect">
            <a:avLst/>
          </a:prstGeom>
          <a:noFill/>
        </p:spPr>
        <p:txBody>
          <a:bodyPr wrap="square" rtlCol="0">
            <a:noAutofit/>
          </a:bodyPr>
          <a:lstStyle/>
          <a:p>
            <a:pPr indent="0">
              <a:buSzPct val="80000"/>
              <a:buFont typeface="Wingdings" panose="05000000000000000000" charset="0"/>
              <a:buNone/>
            </a:pPr>
            <a:r>
              <a:rPr lang="en-US" sz="1750" b="1" dirty="0">
                <a:solidFill>
                  <a:srgbClr val="2C1240"/>
                </a:solidFill>
                <a:latin typeface="Khmer UI" panose="020B0502040204020203" pitchFamily="34" charset="0"/>
                <a:cs typeface="Khmer UI" panose="020B0502040204020203" pitchFamily="34" charset="0"/>
              </a:rPr>
              <a:t>CO-STAR</a:t>
            </a:r>
            <a:r>
              <a:rPr lang="en-US" sz="1750" dirty="0">
                <a:solidFill>
                  <a:srgbClr val="2C1240"/>
                </a:solidFill>
                <a:latin typeface="Khmer UI" panose="020B0502040204020203" pitchFamily="34" charset="0"/>
                <a:cs typeface="Khmer UI" panose="020B0502040204020203" pitchFamily="34" charset="0"/>
              </a:rPr>
              <a:t> acronym can help you remember how to create effective and clear prompts that will get better responses from the AI.</a:t>
            </a:r>
          </a:p>
          <a:p>
            <a:pPr indent="0">
              <a:buSzPct val="80000"/>
              <a:buFont typeface="Wingdings" panose="05000000000000000000" charset="0"/>
              <a:buNone/>
            </a:pPr>
            <a:endParaRPr lang="en-US" sz="1750"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
            </a:pPr>
            <a:r>
              <a:rPr lang="en-US" sz="1750" b="1" dirty="0">
                <a:solidFill>
                  <a:srgbClr val="2C1240"/>
                </a:solidFill>
                <a:latin typeface="Khmer UI" panose="020B0502040204020203" pitchFamily="34" charset="0"/>
                <a:cs typeface="Khmer UI" panose="020B0502040204020203" pitchFamily="34" charset="0"/>
              </a:rPr>
              <a:t>C - Context: </a:t>
            </a:r>
            <a:r>
              <a:rPr lang="en-US" sz="1750" dirty="0">
                <a:solidFill>
                  <a:srgbClr val="2C1240"/>
                </a:solidFill>
                <a:latin typeface="Khmer UI" panose="020B0502040204020203" pitchFamily="34" charset="0"/>
                <a:cs typeface="Khmer UI" panose="020B0502040204020203" pitchFamily="34" charset="0"/>
              </a:rPr>
              <a:t>Provide background information</a:t>
            </a:r>
          </a:p>
          <a:p>
            <a:pPr marL="285750" indent="-285750">
              <a:lnSpc>
                <a:spcPct val="100000"/>
              </a:lnSpc>
              <a:spcBef>
                <a:spcPts val="0"/>
              </a:spcBef>
              <a:spcAft>
                <a:spcPts val="400"/>
              </a:spcAft>
              <a:buSzPct val="80000"/>
              <a:buFont typeface="Wingdings" panose="05000000000000000000" charset="0"/>
              <a:buChar char="§"/>
            </a:pPr>
            <a:r>
              <a:rPr lang="en-US" sz="1750" b="1" dirty="0">
                <a:solidFill>
                  <a:srgbClr val="2C1240"/>
                </a:solidFill>
                <a:latin typeface="Khmer UI" panose="020B0502040204020203" pitchFamily="34" charset="0"/>
                <a:cs typeface="Khmer UI" panose="020B0502040204020203" pitchFamily="34" charset="0"/>
              </a:rPr>
              <a:t>O - Objective: </a:t>
            </a:r>
            <a:r>
              <a:rPr lang="en-US" sz="1750" dirty="0">
                <a:solidFill>
                  <a:srgbClr val="2C1240"/>
                </a:solidFill>
                <a:latin typeface="Khmer UI" panose="020B0502040204020203" pitchFamily="34" charset="0"/>
                <a:cs typeface="Khmer UI" panose="020B0502040204020203" pitchFamily="34" charset="0"/>
              </a:rPr>
              <a:t>Clearly state your goal</a:t>
            </a:r>
            <a:endParaRPr lang="en-US" sz="1750" b="1"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
            </a:pPr>
            <a:r>
              <a:rPr lang="en-US" sz="1750" b="1" dirty="0">
                <a:solidFill>
                  <a:srgbClr val="2C1240"/>
                </a:solidFill>
                <a:latin typeface="Khmer UI" panose="020B0502040204020203" pitchFamily="34" charset="0"/>
                <a:cs typeface="Khmer UI" panose="020B0502040204020203" pitchFamily="34" charset="0"/>
              </a:rPr>
              <a:t>S - Style: Specify </a:t>
            </a:r>
            <a:r>
              <a:rPr lang="en-US" sz="1750" dirty="0">
                <a:solidFill>
                  <a:srgbClr val="2C1240"/>
                </a:solidFill>
                <a:latin typeface="Khmer UI" panose="020B0502040204020203" pitchFamily="34" charset="0"/>
                <a:cs typeface="Khmer UI" panose="020B0502040204020203" pitchFamily="34" charset="0"/>
              </a:rPr>
              <a:t>the desired writing style</a:t>
            </a:r>
          </a:p>
          <a:p>
            <a:pPr marL="285750" indent="-285750">
              <a:lnSpc>
                <a:spcPct val="100000"/>
              </a:lnSpc>
              <a:spcBef>
                <a:spcPts val="0"/>
              </a:spcBef>
              <a:spcAft>
                <a:spcPts val="400"/>
              </a:spcAft>
              <a:buSzPct val="80000"/>
              <a:buFont typeface="Wingdings" panose="05000000000000000000" charset="0"/>
              <a:buChar char="§"/>
            </a:pPr>
            <a:r>
              <a:rPr lang="en-US" sz="1750" b="1" dirty="0">
                <a:solidFill>
                  <a:srgbClr val="2C1240"/>
                </a:solidFill>
                <a:latin typeface="Khmer UI" panose="020B0502040204020203" pitchFamily="34" charset="0"/>
                <a:cs typeface="Khmer UI" panose="020B0502040204020203" pitchFamily="34" charset="0"/>
              </a:rPr>
              <a:t>T - Tone: </a:t>
            </a:r>
            <a:r>
              <a:rPr lang="en-US" sz="1750" dirty="0">
                <a:solidFill>
                  <a:srgbClr val="2C1240"/>
                </a:solidFill>
                <a:latin typeface="Khmer UI" panose="020B0502040204020203" pitchFamily="34" charset="0"/>
                <a:cs typeface="Khmer UI" panose="020B0502040204020203" pitchFamily="34" charset="0"/>
              </a:rPr>
              <a:t>Indicate the appropriate tone</a:t>
            </a:r>
            <a:endParaRPr lang="en-US" sz="1750" b="1"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
            </a:pPr>
            <a:r>
              <a:rPr lang="en-US" sz="1750" b="1" dirty="0">
                <a:solidFill>
                  <a:srgbClr val="2C1240"/>
                </a:solidFill>
                <a:latin typeface="Khmer UI" panose="020B0502040204020203" pitchFamily="34" charset="0"/>
                <a:cs typeface="Khmer UI" panose="020B0502040204020203" pitchFamily="34" charset="0"/>
              </a:rPr>
              <a:t>A - Audience: </a:t>
            </a:r>
            <a:r>
              <a:rPr lang="en-US" sz="1750" dirty="0">
                <a:solidFill>
                  <a:srgbClr val="2C1240"/>
                </a:solidFill>
                <a:latin typeface="Khmer UI" panose="020B0502040204020203" pitchFamily="34" charset="0"/>
                <a:cs typeface="Khmer UI" panose="020B0502040204020203" pitchFamily="34" charset="0"/>
              </a:rPr>
              <a:t>Define who you're addressing</a:t>
            </a:r>
          </a:p>
          <a:p>
            <a:pPr marL="285750" indent="-285750">
              <a:lnSpc>
                <a:spcPct val="100000"/>
              </a:lnSpc>
              <a:spcBef>
                <a:spcPts val="0"/>
              </a:spcBef>
              <a:spcAft>
                <a:spcPts val="400"/>
              </a:spcAft>
              <a:buSzPct val="80000"/>
              <a:buFont typeface="Wingdings" panose="05000000000000000000" charset="0"/>
              <a:buChar char="§"/>
            </a:pPr>
            <a:r>
              <a:rPr lang="en-US" sz="1750" b="1" dirty="0">
                <a:solidFill>
                  <a:srgbClr val="2C1240"/>
                </a:solidFill>
                <a:latin typeface="Khmer UI" panose="020B0502040204020203" pitchFamily="34" charset="0"/>
                <a:cs typeface="Khmer UI" panose="020B0502040204020203" pitchFamily="34" charset="0"/>
              </a:rPr>
              <a:t>R - Response: </a:t>
            </a:r>
            <a:r>
              <a:rPr lang="en-US" sz="1750" dirty="0">
                <a:solidFill>
                  <a:srgbClr val="2C1240"/>
                </a:solidFill>
                <a:latin typeface="Khmer UI" panose="020B0502040204020203" pitchFamily="34" charset="0"/>
                <a:cs typeface="Khmer UI" panose="020B0502040204020203" pitchFamily="34" charset="0"/>
              </a:rPr>
              <a:t>Specify desired length and format</a:t>
            </a:r>
            <a:endParaRPr lang="en-US" sz="1700" dirty="0">
              <a:solidFill>
                <a:srgbClr val="2C1240"/>
              </a:solidFill>
              <a:latin typeface="Khmer UI" panose="020B0502040204020203" pitchFamily="34" charset="0"/>
              <a:cs typeface="Khmer UI" panose="020B0502040204020203" pitchFamily="34" charset="0"/>
            </a:endParaRPr>
          </a:p>
        </p:txBody>
      </p:sp>
    </p:spTree>
    <p:extLst>
      <p:ext uri="{BB962C8B-B14F-4D97-AF65-F5344CB8AC3E}">
        <p14:creationId xmlns:p14="http://schemas.microsoft.com/office/powerpoint/2010/main" val="1649597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2">
            <a:extLst>
              <a:ext uri="{FF2B5EF4-FFF2-40B4-BE49-F238E27FC236}">
                <a16:creationId xmlns:a16="http://schemas.microsoft.com/office/drawing/2014/main" id="{3E8425D8-9774-FDAD-7891-3F31C6C242B1}"/>
              </a:ext>
            </a:extLst>
          </p:cNvPr>
          <p:cNvSpPr>
            <a:spLocks noGrp="1"/>
          </p:cNvSpPr>
          <p:nvPr>
            <p:ph type="sldNum" sz="quarter" idx="12"/>
          </p:nvPr>
        </p:nvSpPr>
        <p:spPr>
          <a:xfrm>
            <a:off x="8610600" y="6356350"/>
            <a:ext cx="2743200" cy="365125"/>
          </a:xfrm>
        </p:spPr>
        <p:txBody>
          <a:bodyPr/>
          <a:lstStyle/>
          <a:p>
            <a:fld id="{03CB0E19-F4C8-4F98-96D2-CE1ECDE59975}" type="slidenum">
              <a:rPr lang="en-GB" smtClean="0"/>
              <a:t>6</a:t>
            </a:fld>
            <a:endParaRPr lang="en-GB"/>
          </a:p>
        </p:txBody>
      </p:sp>
      <p:sp>
        <p:nvSpPr>
          <p:cNvPr id="16" name="Title 5">
            <a:extLst>
              <a:ext uri="{FF2B5EF4-FFF2-40B4-BE49-F238E27FC236}">
                <a16:creationId xmlns:a16="http://schemas.microsoft.com/office/drawing/2014/main" id="{07F28039-D733-C342-660C-5157F552A41E}"/>
              </a:ext>
            </a:extLst>
          </p:cNvPr>
          <p:cNvSpPr txBox="1"/>
          <p:nvPr/>
        </p:nvSpPr>
        <p:spPr>
          <a:xfrm>
            <a:off x="604838" y="353758"/>
            <a:ext cx="10197274" cy="622901"/>
          </a:xfrm>
          <a:prstGeom prst="rect">
            <a:avLst/>
          </a:prstGeom>
        </p:spPr>
        <p:txBody>
          <a:bodyPr/>
          <a:lstStyle>
            <a:lvl1pPr algn="l" defTabSz="914400" rtl="0" eaLnBrk="1" latinLnBrk="0" hangingPunct="1">
              <a:lnSpc>
                <a:spcPct val="95000"/>
              </a:lnSpc>
              <a:spcBef>
                <a:spcPct val="0"/>
              </a:spcBef>
              <a:buNone/>
              <a:defRPr sz="3000" b="1" kern="1200">
                <a:solidFill>
                  <a:srgbClr val="002068"/>
                </a:solidFill>
                <a:latin typeface="+mj-lt"/>
                <a:ea typeface="+mj-ea"/>
                <a:cs typeface="+mj-cs"/>
              </a:defRPr>
            </a:lvl1pPr>
          </a:lstStyle>
          <a:p>
            <a:r>
              <a:rPr lang="en-US" dirty="0">
                <a:solidFill>
                  <a:srgbClr val="D17957"/>
                </a:solidFill>
                <a:latin typeface="Khmer UI" panose="020B0502040204020203" pitchFamily="34" charset="0"/>
                <a:cs typeface="Khmer UI" panose="020B0502040204020203" pitchFamily="34" charset="0"/>
              </a:rPr>
              <a:t>Best Practices for Crafting Good Prompts</a:t>
            </a:r>
          </a:p>
        </p:txBody>
      </p:sp>
      <p:sp>
        <p:nvSpPr>
          <p:cNvPr id="17" name="TextBox 16">
            <a:extLst>
              <a:ext uri="{FF2B5EF4-FFF2-40B4-BE49-F238E27FC236}">
                <a16:creationId xmlns:a16="http://schemas.microsoft.com/office/drawing/2014/main" id="{B123063D-3B02-2D49-5456-F4B2E3BFFAD8}"/>
              </a:ext>
            </a:extLst>
          </p:cNvPr>
          <p:cNvSpPr txBox="1"/>
          <p:nvPr/>
        </p:nvSpPr>
        <p:spPr>
          <a:xfrm>
            <a:off x="605155" y="1018540"/>
            <a:ext cx="10197465" cy="5214248"/>
          </a:xfrm>
          <a:prstGeom prst="rect">
            <a:avLst/>
          </a:prstGeom>
          <a:noFill/>
        </p:spPr>
        <p:txBody>
          <a:bodyPr wrap="square" rtlCol="0">
            <a:spAutoFit/>
          </a:bodyPr>
          <a:lstStyle/>
          <a:p>
            <a:pPr indent="0">
              <a:buSzPct val="80000"/>
              <a:buFont typeface="Wingdings" panose="05000000000000000000" charset="0"/>
              <a:buNone/>
            </a:pPr>
            <a:endParaRPr lang="en-US" sz="1750"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rPr>
              <a:t>Provide Clear Objective:</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Be clear about what you want the model to achieve.</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Avoid leading questions which might bias the AI’s responses.</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For example, </a:t>
            </a:r>
            <a:r>
              <a:rPr lang="en-US" sz="1700" kern="0" dirty="0">
                <a:solidFill>
                  <a:srgbClr val="2C1240"/>
                </a:solidFill>
                <a:effectLst/>
                <a:ea typeface="Times New Roman" panose="02020603050405020304" pitchFamily="18" charset="0"/>
                <a:cs typeface="Times New Roman" panose="02020603050405020304" pitchFamily="18" charset="0"/>
                <a:sym typeface="+mn-ea"/>
              </a:rPr>
              <a:t>Is it generating text, translating languages, writing different kinds of creative content, or answering your questions?</a:t>
            </a:r>
            <a:endParaRPr lang="en-US" sz="1700"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rPr>
              <a:t>Be Specific:</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The more specific the prompt, the more accurate and focused the response is likely to be.</a:t>
            </a:r>
          </a:p>
          <a:p>
            <a:pPr marL="742950" lvl="1" indent="-285750">
              <a:lnSpc>
                <a:spcPct val="100000"/>
              </a:lnSpc>
              <a:spcBef>
                <a:spcPts val="0"/>
              </a:spcBef>
              <a:spcAft>
                <a:spcPts val="400"/>
              </a:spcAft>
              <a:buSzPct val="80000"/>
              <a:buFont typeface="Wingdings" panose="05000000000000000000" charset="0"/>
              <a:buChar char="§"/>
            </a:pPr>
            <a:r>
              <a:rPr lang="en-US" sz="1700" kern="0" dirty="0">
                <a:solidFill>
                  <a:srgbClr val="2C1240"/>
                </a:solidFill>
                <a:effectLst/>
                <a:ea typeface="Times New Roman" panose="02020603050405020304" pitchFamily="18" charset="0"/>
                <a:cs typeface="Times New Roman" panose="02020603050405020304" pitchFamily="18" charset="0"/>
                <a:sym typeface="+mn-ea"/>
              </a:rPr>
              <a:t>The more details you provide, the better the model can understand your request.</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For example, instead of asking "Tell me about the solar system," a more specific prompt would be "List the planets in the solar system in order from the Sun."</a:t>
            </a: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rPr>
              <a:t>Provide Context:</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Providing context can help the model to understand the nuances of the request</a:t>
            </a:r>
          </a:p>
          <a:p>
            <a:pPr lvl="1" indent="0">
              <a:lnSpc>
                <a:spcPct val="100000"/>
              </a:lnSpc>
              <a:spcBef>
                <a:spcPts val="0"/>
              </a:spcBef>
              <a:spcAft>
                <a:spcPts val="400"/>
              </a:spcAft>
              <a:buSzPct val="80000"/>
              <a:buFont typeface="Wingdings" panose="05000000000000000000" charset="0"/>
              <a:buNone/>
            </a:pPr>
            <a:r>
              <a:rPr lang="en-US" sz="1700" dirty="0">
                <a:solidFill>
                  <a:srgbClr val="2C1240"/>
                </a:solidFill>
                <a:latin typeface="Khmer UI" panose="020B0502040204020203" pitchFamily="34" charset="0"/>
                <a:cs typeface="Khmer UI" panose="020B0502040204020203" pitchFamily="34" charset="0"/>
              </a:rPr>
              <a:t>     and generate more relevant responses.</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For example, if asking the model to summarize a news article,</a:t>
            </a:r>
          </a:p>
          <a:p>
            <a:pPr lvl="1" indent="0">
              <a:lnSpc>
                <a:spcPct val="100000"/>
              </a:lnSpc>
              <a:spcBef>
                <a:spcPts val="0"/>
              </a:spcBef>
              <a:spcAft>
                <a:spcPts val="400"/>
              </a:spcAft>
              <a:buSzPct val="80000"/>
              <a:buFont typeface="Wingdings" panose="05000000000000000000" charset="0"/>
              <a:buNone/>
            </a:pPr>
            <a:r>
              <a:rPr lang="en-US" sz="1700" dirty="0">
                <a:solidFill>
                  <a:srgbClr val="2C1240"/>
                </a:solidFill>
                <a:latin typeface="Khmer UI" panose="020B0502040204020203" pitchFamily="34" charset="0"/>
                <a:cs typeface="Khmer UI" panose="020B0502040204020203" pitchFamily="34" charset="0"/>
              </a:rPr>
              <a:t>     include the article's text and domain in the prompt.</a:t>
            </a:r>
          </a:p>
          <a:p>
            <a:pPr marL="285750" indent="-285750">
              <a:buSzPct val="80000"/>
              <a:buFont typeface="Wingdings" panose="05000000000000000000" charset="0"/>
              <a:buChar char="§"/>
            </a:pPr>
            <a:endParaRPr lang="en-US" sz="1700" dirty="0">
              <a:solidFill>
                <a:srgbClr val="2C1240"/>
              </a:solidFill>
              <a:latin typeface="Khmer UI" panose="020B0502040204020203" pitchFamily="34" charset="0"/>
              <a:cs typeface="Khmer UI" panose="020B0502040204020203" pitchFamily="34" charset="0"/>
            </a:endParaRPr>
          </a:p>
        </p:txBody>
      </p:sp>
    </p:spTree>
    <p:extLst>
      <p:ext uri="{BB962C8B-B14F-4D97-AF65-F5344CB8AC3E}">
        <p14:creationId xmlns:p14="http://schemas.microsoft.com/office/powerpoint/2010/main" val="643777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25F77-173E-D86F-4400-E83A82483771}"/>
            </a:ext>
          </a:extLst>
        </p:cNvPr>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B838406C-7B6F-6521-7BA5-58A0C224B29B}"/>
              </a:ext>
            </a:extLst>
          </p:cNvPr>
          <p:cNvSpPr>
            <a:spLocks noGrp="1"/>
          </p:cNvSpPr>
          <p:nvPr>
            <p:ph type="sldNum" sz="quarter" idx="12"/>
          </p:nvPr>
        </p:nvSpPr>
        <p:spPr>
          <a:xfrm>
            <a:off x="8610600" y="6356350"/>
            <a:ext cx="2743200" cy="365125"/>
          </a:xfrm>
        </p:spPr>
        <p:txBody>
          <a:bodyPr/>
          <a:lstStyle/>
          <a:p>
            <a:fld id="{03CB0E19-F4C8-4F98-96D2-CE1ECDE59975}" type="slidenum">
              <a:rPr lang="en-GB" smtClean="0"/>
              <a:t>7</a:t>
            </a:fld>
            <a:endParaRPr lang="en-GB"/>
          </a:p>
        </p:txBody>
      </p:sp>
      <p:sp>
        <p:nvSpPr>
          <p:cNvPr id="3" name="Title 5">
            <a:extLst>
              <a:ext uri="{FF2B5EF4-FFF2-40B4-BE49-F238E27FC236}">
                <a16:creationId xmlns:a16="http://schemas.microsoft.com/office/drawing/2014/main" id="{67A06B32-6CC9-228C-9FD4-54BC0DF7BDD3}"/>
              </a:ext>
            </a:extLst>
          </p:cNvPr>
          <p:cNvSpPr txBox="1"/>
          <p:nvPr/>
        </p:nvSpPr>
        <p:spPr>
          <a:xfrm>
            <a:off x="604838" y="353758"/>
            <a:ext cx="10197274" cy="622901"/>
          </a:xfrm>
          <a:prstGeom prst="rect">
            <a:avLst/>
          </a:prstGeom>
        </p:spPr>
        <p:txBody>
          <a:bodyPr/>
          <a:lstStyle>
            <a:lvl1pPr algn="l" defTabSz="914400" rtl="0" eaLnBrk="1" latinLnBrk="0" hangingPunct="1">
              <a:lnSpc>
                <a:spcPct val="95000"/>
              </a:lnSpc>
              <a:spcBef>
                <a:spcPct val="0"/>
              </a:spcBef>
              <a:buNone/>
              <a:defRPr sz="3000" b="1" kern="1200">
                <a:solidFill>
                  <a:srgbClr val="002068"/>
                </a:solidFill>
                <a:latin typeface="+mj-lt"/>
                <a:ea typeface="+mj-ea"/>
                <a:cs typeface="+mj-cs"/>
              </a:defRPr>
            </a:lvl1pPr>
          </a:lstStyle>
          <a:p>
            <a:r>
              <a:rPr lang="en-US" dirty="0">
                <a:solidFill>
                  <a:srgbClr val="D17957"/>
                </a:solidFill>
                <a:latin typeface="Khmer UI" panose="020B0502040204020203" pitchFamily="34" charset="0"/>
                <a:cs typeface="Khmer UI" panose="020B0502040204020203" pitchFamily="34" charset="0"/>
              </a:rPr>
              <a:t>Best Practices for Crafting Good Prompts (Cont.)</a:t>
            </a:r>
          </a:p>
        </p:txBody>
      </p:sp>
      <p:sp>
        <p:nvSpPr>
          <p:cNvPr id="4" name="TextBox 16">
            <a:extLst>
              <a:ext uri="{FF2B5EF4-FFF2-40B4-BE49-F238E27FC236}">
                <a16:creationId xmlns:a16="http://schemas.microsoft.com/office/drawing/2014/main" id="{D09E9D7C-B043-B2EC-3398-280C531FC71F}"/>
              </a:ext>
            </a:extLst>
          </p:cNvPr>
          <p:cNvSpPr txBox="1"/>
          <p:nvPr/>
        </p:nvSpPr>
        <p:spPr>
          <a:xfrm>
            <a:off x="605155" y="1018540"/>
            <a:ext cx="10197465" cy="4326826"/>
          </a:xfrm>
          <a:prstGeom prst="rect">
            <a:avLst/>
          </a:prstGeom>
          <a:noFill/>
        </p:spPr>
        <p:txBody>
          <a:bodyPr wrap="square" rtlCol="0">
            <a:spAutoFit/>
          </a:bodyPr>
          <a:lstStyle/>
          <a:p>
            <a:pPr indent="0">
              <a:buSzPct val="80000"/>
              <a:buFont typeface="Wingdings" panose="05000000000000000000" charset="0"/>
              <a:buNone/>
            </a:pPr>
            <a:endParaRPr lang="en-US" sz="1750"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sym typeface="+mn-ea"/>
              </a:rPr>
              <a:t>Structure Your Prompt:</a:t>
            </a:r>
            <a:endParaRPr lang="en-US" sz="1700" b="1" dirty="0">
              <a:solidFill>
                <a:srgbClr val="2C1240"/>
              </a:solidFill>
              <a:latin typeface="Khmer UI" panose="020B0502040204020203" pitchFamily="34" charset="0"/>
              <a:cs typeface="Khmer UI" panose="020B0502040204020203" pitchFamily="34" charset="0"/>
            </a:endParaRP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sym typeface="+mn-ea"/>
              </a:rPr>
              <a:t>Structure your instructions well. Use headers to separate different sections of the prompt.</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sym typeface="+mn-ea"/>
              </a:rPr>
              <a:t>This will make it easier for the model to understand what is being asked.</a:t>
            </a:r>
            <a:endParaRPr lang="en-US" sz="1700" dirty="0">
              <a:solidFill>
                <a:srgbClr val="2C1240"/>
              </a:solidFill>
              <a:latin typeface="Khmer UI" panose="020B0502040204020203" pitchFamily="34" charset="0"/>
              <a:cs typeface="Khmer UI" panose="020B0502040204020203" pitchFamily="34" charset="0"/>
            </a:endParaRP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sym typeface="+mn-ea"/>
              </a:rPr>
              <a:t>For example,  Separate instructions from context using separators (e.g., use ### or """)</a:t>
            </a:r>
            <a:endParaRPr lang="en-US" sz="1700"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rPr>
              <a:t>Be Clear &amp; Concise:</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sym typeface="+mn-ea"/>
              </a:rPr>
              <a:t>Use straightforward language for the model to easily understand and process.</a:t>
            </a:r>
            <a:endParaRPr lang="en-US" sz="1700" dirty="0">
              <a:solidFill>
                <a:srgbClr val="2C1240"/>
              </a:solidFill>
              <a:latin typeface="Khmer UI" panose="020B0502040204020203" pitchFamily="34" charset="0"/>
              <a:cs typeface="Khmer UI" panose="020B0502040204020203" pitchFamily="34" charset="0"/>
            </a:endParaRP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sym typeface="+mn-ea"/>
              </a:rPr>
              <a:t>Avoid using jargon, technical terms, or complicated sentence structures.</a:t>
            </a:r>
            <a:endParaRPr lang="en-US" sz="1700"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sym typeface="+mn-ea"/>
              </a:rPr>
              <a:t>Specify desired format and style:</a:t>
            </a:r>
            <a:endParaRPr lang="en-US" sz="1700" b="1" dirty="0">
              <a:solidFill>
                <a:srgbClr val="2C1240"/>
              </a:solidFill>
              <a:latin typeface="Khmer UI" panose="020B0502040204020203" pitchFamily="34" charset="0"/>
              <a:cs typeface="Khmer UI" panose="020B0502040204020203" pitchFamily="34" charset="0"/>
            </a:endParaRP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If you have specific requirements for the format or style of the output, mention them clearly in your prompt.</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This could include specifying the length, tone, formality, or genre of the generated text.</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rPr>
              <a:t>The more specific you are, the better the model can tailor its response</a:t>
            </a:r>
          </a:p>
          <a:p>
            <a:pPr lvl="1">
              <a:lnSpc>
                <a:spcPct val="100000"/>
              </a:lnSpc>
              <a:spcBef>
                <a:spcPts val="0"/>
              </a:spcBef>
              <a:spcAft>
                <a:spcPts val="400"/>
              </a:spcAft>
              <a:buSzPct val="80000"/>
            </a:pPr>
            <a:r>
              <a:rPr lang="en-US" sz="1700" dirty="0">
                <a:solidFill>
                  <a:srgbClr val="2C1240"/>
                </a:solidFill>
                <a:latin typeface="Khmer UI" panose="020B0502040204020203" pitchFamily="34" charset="0"/>
                <a:cs typeface="Khmer UI" panose="020B0502040204020203" pitchFamily="34" charset="0"/>
              </a:rPr>
              <a:t>     to your preferences.</a:t>
            </a:r>
          </a:p>
        </p:txBody>
      </p:sp>
    </p:spTree>
    <p:extLst>
      <p:ext uri="{BB962C8B-B14F-4D97-AF65-F5344CB8AC3E}">
        <p14:creationId xmlns:p14="http://schemas.microsoft.com/office/powerpoint/2010/main" val="1513406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DACAA-80EC-83AF-9C9C-82E02B6F5395}"/>
            </a:ext>
          </a:extLst>
        </p:cNvPr>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C2D7F44F-55D0-12D6-0FAD-ECE4353AA4AE}"/>
              </a:ext>
            </a:extLst>
          </p:cNvPr>
          <p:cNvSpPr>
            <a:spLocks noGrp="1"/>
          </p:cNvSpPr>
          <p:nvPr>
            <p:ph type="sldNum" sz="quarter" idx="12"/>
          </p:nvPr>
        </p:nvSpPr>
        <p:spPr>
          <a:xfrm>
            <a:off x="8610600" y="6356350"/>
            <a:ext cx="2743200" cy="365125"/>
          </a:xfrm>
        </p:spPr>
        <p:txBody>
          <a:bodyPr/>
          <a:lstStyle/>
          <a:p>
            <a:fld id="{03CB0E19-F4C8-4F98-96D2-CE1ECDE59975}" type="slidenum">
              <a:rPr lang="en-GB" smtClean="0"/>
              <a:t>8</a:t>
            </a:fld>
            <a:endParaRPr lang="en-GB"/>
          </a:p>
        </p:txBody>
      </p:sp>
      <p:sp>
        <p:nvSpPr>
          <p:cNvPr id="3" name="Title 5">
            <a:extLst>
              <a:ext uri="{FF2B5EF4-FFF2-40B4-BE49-F238E27FC236}">
                <a16:creationId xmlns:a16="http://schemas.microsoft.com/office/drawing/2014/main" id="{65F1B4A9-E5E6-470F-ECD3-05109BF4CF3D}"/>
              </a:ext>
            </a:extLst>
          </p:cNvPr>
          <p:cNvSpPr txBox="1"/>
          <p:nvPr/>
        </p:nvSpPr>
        <p:spPr>
          <a:xfrm>
            <a:off x="604838" y="353758"/>
            <a:ext cx="10197274" cy="622901"/>
          </a:xfrm>
          <a:prstGeom prst="rect">
            <a:avLst/>
          </a:prstGeom>
        </p:spPr>
        <p:txBody>
          <a:bodyPr/>
          <a:lstStyle>
            <a:lvl1pPr algn="l" defTabSz="914400" rtl="0" eaLnBrk="1" latinLnBrk="0" hangingPunct="1">
              <a:lnSpc>
                <a:spcPct val="95000"/>
              </a:lnSpc>
              <a:spcBef>
                <a:spcPct val="0"/>
              </a:spcBef>
              <a:buNone/>
              <a:defRPr sz="3000" b="1" kern="1200">
                <a:solidFill>
                  <a:srgbClr val="002068"/>
                </a:solidFill>
                <a:latin typeface="+mj-lt"/>
                <a:ea typeface="+mj-ea"/>
                <a:cs typeface="+mj-cs"/>
              </a:defRPr>
            </a:lvl1pPr>
          </a:lstStyle>
          <a:p>
            <a:r>
              <a:rPr lang="en-US" dirty="0">
                <a:solidFill>
                  <a:srgbClr val="D17957"/>
                </a:solidFill>
                <a:latin typeface="Khmer UI" panose="020B0502040204020203" pitchFamily="34" charset="0"/>
                <a:cs typeface="Khmer UI" panose="020B0502040204020203" pitchFamily="34" charset="0"/>
              </a:rPr>
              <a:t>Best Practices for Crafting Good Prompts (Cont.)</a:t>
            </a:r>
          </a:p>
        </p:txBody>
      </p:sp>
      <p:sp>
        <p:nvSpPr>
          <p:cNvPr id="4" name="TextBox 16">
            <a:extLst>
              <a:ext uri="{FF2B5EF4-FFF2-40B4-BE49-F238E27FC236}">
                <a16:creationId xmlns:a16="http://schemas.microsoft.com/office/drawing/2014/main" id="{2D7A54F9-1FEE-3276-D34D-E93D6B73FBAC}"/>
              </a:ext>
            </a:extLst>
          </p:cNvPr>
          <p:cNvSpPr txBox="1"/>
          <p:nvPr/>
        </p:nvSpPr>
        <p:spPr>
          <a:xfrm>
            <a:off x="605155" y="1018540"/>
            <a:ext cx="10197465" cy="4224233"/>
          </a:xfrm>
          <a:prstGeom prst="rect">
            <a:avLst/>
          </a:prstGeom>
          <a:noFill/>
        </p:spPr>
        <p:txBody>
          <a:bodyPr wrap="square" rtlCol="0">
            <a:spAutoFit/>
          </a:bodyPr>
          <a:lstStyle/>
          <a:p>
            <a:pPr indent="0">
              <a:buSzPct val="80000"/>
              <a:buFont typeface="Wingdings" panose="05000000000000000000" charset="0"/>
              <a:buNone/>
            </a:pPr>
            <a:endParaRPr lang="en-US" sz="1750"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sym typeface="+mn-ea"/>
              </a:rPr>
              <a:t>Iterate till Perfection:</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sym typeface="+mn-ea"/>
              </a:rPr>
              <a:t>Prompt Engineering is an Iterative Process. So, start with a basic prompt and refine it based on the responses.</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sym typeface="+mn-ea"/>
              </a:rPr>
              <a:t>By iteratively refining your prompts, you can unlock the full potential of the model and achieve optimal results.</a:t>
            </a: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sym typeface="+mn-ea"/>
              </a:rPr>
              <a:t>Proofread &amp; Verify:</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sym typeface="+mn-ea"/>
              </a:rPr>
              <a:t>Ensure your prompt is free of typos, grammatical errors, and formatting issues.</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sym typeface="+mn-ea"/>
              </a:rPr>
              <a:t>Always double-check and validate the AI generated content.</a:t>
            </a:r>
            <a:endParaRPr lang="en-US" sz="1700" b="1" dirty="0">
              <a:solidFill>
                <a:srgbClr val="2C1240"/>
              </a:solidFill>
              <a:latin typeface="Khmer UI" panose="020B0502040204020203" pitchFamily="34" charset="0"/>
              <a:cs typeface="Khmer UI" panose="020B0502040204020203" pitchFamily="34" charset="0"/>
              <a:sym typeface="+mn-ea"/>
            </a:endParaRPr>
          </a:p>
          <a:p>
            <a:pPr marL="285750" indent="-285750">
              <a:lnSpc>
                <a:spcPct val="100000"/>
              </a:lnSpc>
              <a:spcBef>
                <a:spcPts val="0"/>
              </a:spcBef>
              <a:spcAft>
                <a:spcPts val="400"/>
              </a:spcAft>
              <a:buSzPct val="80000"/>
              <a:buFont typeface="Wingdings" panose="05000000000000000000" charset="0"/>
              <a:buChar char="q"/>
            </a:pPr>
            <a:r>
              <a:rPr lang="en-US" sz="1700" b="1" dirty="0">
                <a:solidFill>
                  <a:srgbClr val="2C1240"/>
                </a:solidFill>
                <a:latin typeface="Khmer UI" panose="020B0502040204020203" pitchFamily="34" charset="0"/>
                <a:cs typeface="Khmer UI" panose="020B0502040204020203" pitchFamily="34" charset="0"/>
                <a:sym typeface="+mn-ea"/>
              </a:rPr>
              <a:t>Breakdown complicated tasks:</a:t>
            </a:r>
            <a:endParaRPr lang="en-US" sz="1700" dirty="0">
              <a:solidFill>
                <a:srgbClr val="2C1240"/>
              </a:solidFill>
              <a:latin typeface="Khmer UI" panose="020B0502040204020203" pitchFamily="34" charset="0"/>
              <a:cs typeface="Khmer UI" panose="020B0502040204020203" pitchFamily="34" charset="0"/>
              <a:sym typeface="+mn-ea"/>
            </a:endParaRP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sym typeface="+mn-ea"/>
              </a:rPr>
              <a:t>Breakdown the task to smaller steps. This will make it easier for the model to understand and complete the task.</a:t>
            </a:r>
          </a:p>
          <a:p>
            <a:pPr marL="742950" lvl="1" indent="-285750">
              <a:lnSpc>
                <a:spcPct val="100000"/>
              </a:lnSpc>
              <a:spcBef>
                <a:spcPts val="0"/>
              </a:spcBef>
              <a:spcAft>
                <a:spcPts val="400"/>
              </a:spcAft>
              <a:buSzPct val="80000"/>
              <a:buFont typeface="Wingdings" panose="05000000000000000000" charset="0"/>
              <a:buChar char="§"/>
            </a:pPr>
            <a:r>
              <a:rPr lang="en-US" sz="1700" dirty="0">
                <a:solidFill>
                  <a:srgbClr val="2C1240"/>
                </a:solidFill>
                <a:latin typeface="Khmer UI" panose="020B0502040204020203" pitchFamily="34" charset="0"/>
                <a:cs typeface="Khmer UI" panose="020B0502040204020203" pitchFamily="34" charset="0"/>
                <a:sym typeface="+mn-ea"/>
              </a:rPr>
              <a:t>Sometimes, by appending the words “</a:t>
            </a:r>
            <a:r>
              <a:rPr lang="en-US" sz="1700" b="1" dirty="0">
                <a:solidFill>
                  <a:srgbClr val="2C1240"/>
                </a:solidFill>
                <a:latin typeface="Khmer UI" panose="020B0502040204020203" pitchFamily="34" charset="0"/>
                <a:cs typeface="Khmer UI" panose="020B0502040204020203" pitchFamily="34" charset="0"/>
                <a:sym typeface="+mn-ea"/>
              </a:rPr>
              <a:t>Let’s Think Step by Step</a:t>
            </a:r>
            <a:r>
              <a:rPr lang="en-US" sz="1700" dirty="0">
                <a:solidFill>
                  <a:srgbClr val="2C1240"/>
                </a:solidFill>
                <a:latin typeface="Khmer UI" panose="020B0502040204020203" pitchFamily="34" charset="0"/>
                <a:cs typeface="Khmer UI" panose="020B0502040204020203" pitchFamily="34" charset="0"/>
                <a:sym typeface="+mn-ea"/>
              </a:rPr>
              <a:t>” to the end of a question,</a:t>
            </a:r>
          </a:p>
          <a:p>
            <a:pPr lvl="1" indent="0">
              <a:lnSpc>
                <a:spcPct val="100000"/>
              </a:lnSpc>
              <a:spcBef>
                <a:spcPts val="0"/>
              </a:spcBef>
              <a:spcAft>
                <a:spcPts val="400"/>
              </a:spcAft>
              <a:buSzPct val="80000"/>
              <a:buFont typeface="Wingdings" panose="05000000000000000000" charset="0"/>
              <a:buNone/>
            </a:pPr>
            <a:r>
              <a:rPr lang="en-US" sz="1700" dirty="0">
                <a:solidFill>
                  <a:srgbClr val="2C1240"/>
                </a:solidFill>
                <a:latin typeface="Khmer UI" panose="020B0502040204020203" pitchFamily="34" charset="0"/>
                <a:cs typeface="Khmer UI" panose="020B0502040204020203" pitchFamily="34" charset="0"/>
                <a:sym typeface="+mn-ea"/>
              </a:rPr>
              <a:t>     Models try and reason the answer step by step and arrive at a better answer.</a:t>
            </a:r>
          </a:p>
        </p:txBody>
      </p:sp>
    </p:spTree>
    <p:extLst>
      <p:ext uri="{BB962C8B-B14F-4D97-AF65-F5344CB8AC3E}">
        <p14:creationId xmlns:p14="http://schemas.microsoft.com/office/powerpoint/2010/main" val="1022150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885C2-D237-B560-B23C-35AB7B924D7D}"/>
            </a:ext>
          </a:extLst>
        </p:cNvPr>
        <p:cNvGrpSpPr/>
        <p:nvPr/>
      </p:nvGrpSpPr>
      <p:grpSpPr>
        <a:xfrm>
          <a:off x="0" y="0"/>
          <a:ext cx="0" cy="0"/>
          <a:chOff x="0" y="0"/>
          <a:chExt cx="0" cy="0"/>
        </a:xfrm>
      </p:grpSpPr>
      <p:sp>
        <p:nvSpPr>
          <p:cNvPr id="5" name="Title 5">
            <a:extLst>
              <a:ext uri="{FF2B5EF4-FFF2-40B4-BE49-F238E27FC236}">
                <a16:creationId xmlns:a16="http://schemas.microsoft.com/office/drawing/2014/main" id="{7CC99EC1-A9A9-E15B-DFFE-5B30A1E4A0A6}"/>
              </a:ext>
            </a:extLst>
          </p:cNvPr>
          <p:cNvSpPr txBox="1"/>
          <p:nvPr/>
        </p:nvSpPr>
        <p:spPr>
          <a:xfrm>
            <a:off x="604838" y="353758"/>
            <a:ext cx="10197274" cy="622901"/>
          </a:xfrm>
          <a:prstGeom prst="rect">
            <a:avLst/>
          </a:prstGeom>
        </p:spPr>
        <p:txBody>
          <a:bodyPr/>
          <a:lstStyle>
            <a:lvl1pPr algn="l" defTabSz="914400" rtl="0" eaLnBrk="1" latinLnBrk="0" hangingPunct="1">
              <a:lnSpc>
                <a:spcPct val="95000"/>
              </a:lnSpc>
              <a:spcBef>
                <a:spcPct val="0"/>
              </a:spcBef>
              <a:buNone/>
              <a:defRPr sz="3000" b="1" kern="1200">
                <a:solidFill>
                  <a:srgbClr val="002068"/>
                </a:solidFill>
                <a:latin typeface="+mj-lt"/>
                <a:ea typeface="+mj-ea"/>
                <a:cs typeface="+mj-cs"/>
              </a:defRPr>
            </a:lvl1pPr>
          </a:lstStyle>
          <a:p>
            <a:r>
              <a:rPr lang="en-US" dirty="0">
                <a:solidFill>
                  <a:srgbClr val="D17957"/>
                </a:solidFill>
                <a:latin typeface="Khmer UI" panose="020B0502040204020203" pitchFamily="34" charset="0"/>
                <a:cs typeface="Khmer UI" panose="020B0502040204020203" pitchFamily="34" charset="0"/>
              </a:rPr>
              <a:t>Examples of Effective Prompts</a:t>
            </a:r>
          </a:p>
        </p:txBody>
      </p:sp>
      <p:sp>
        <p:nvSpPr>
          <p:cNvPr id="6" name="Slide Number Placeholder 2">
            <a:extLst>
              <a:ext uri="{FF2B5EF4-FFF2-40B4-BE49-F238E27FC236}">
                <a16:creationId xmlns:a16="http://schemas.microsoft.com/office/drawing/2014/main" id="{9B186D08-DB5C-7F02-A456-C8F7DA0B2A9F}"/>
              </a:ext>
            </a:extLst>
          </p:cNvPr>
          <p:cNvSpPr>
            <a:spLocks noGrp="1"/>
          </p:cNvSpPr>
          <p:nvPr>
            <p:ph type="sldNum" sz="quarter" idx="12"/>
          </p:nvPr>
        </p:nvSpPr>
        <p:spPr>
          <a:xfrm>
            <a:off x="8610600" y="6356350"/>
            <a:ext cx="2743200" cy="365125"/>
          </a:xfrm>
        </p:spPr>
        <p:txBody>
          <a:bodyPr/>
          <a:lstStyle/>
          <a:p>
            <a:fld id="{03CB0E19-F4C8-4F98-96D2-CE1ECDE59975}" type="slidenum">
              <a:rPr lang="en-GB" smtClean="0"/>
              <a:t>9</a:t>
            </a:fld>
            <a:endParaRPr lang="en-GB" dirty="0"/>
          </a:p>
        </p:txBody>
      </p:sp>
      <p:sp>
        <p:nvSpPr>
          <p:cNvPr id="7" name="TextBox 16">
            <a:extLst>
              <a:ext uri="{FF2B5EF4-FFF2-40B4-BE49-F238E27FC236}">
                <a16:creationId xmlns:a16="http://schemas.microsoft.com/office/drawing/2014/main" id="{28A3A505-8DD7-6C5B-CB02-B2D35D540C07}"/>
              </a:ext>
            </a:extLst>
          </p:cNvPr>
          <p:cNvSpPr txBox="1"/>
          <p:nvPr/>
        </p:nvSpPr>
        <p:spPr>
          <a:xfrm>
            <a:off x="605155" y="1066165"/>
            <a:ext cx="10197465" cy="4587240"/>
          </a:xfrm>
          <a:prstGeom prst="rect">
            <a:avLst/>
          </a:prstGeom>
          <a:noFill/>
        </p:spPr>
        <p:txBody>
          <a:bodyPr wrap="square" rtlCol="0">
            <a:spAutoFit/>
          </a:bodyPr>
          <a:lstStyle/>
          <a:p>
            <a:pPr indent="0">
              <a:buSzPct val="80000"/>
              <a:buFont typeface="Wingdings" panose="05000000000000000000" charset="0"/>
              <a:buNone/>
            </a:pPr>
            <a:endParaRPr lang="en-US" sz="1750"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q"/>
            </a:pPr>
            <a:r>
              <a:rPr lang="en-US" sz="1700" dirty="0">
                <a:solidFill>
                  <a:srgbClr val="2C1240"/>
                </a:solidFill>
                <a:latin typeface="Khmer UI" panose="020B0502040204020203" pitchFamily="34" charset="0"/>
                <a:cs typeface="Khmer UI" panose="020B0502040204020203" pitchFamily="34" charset="0"/>
                <a:sym typeface="+mn-ea"/>
              </a:rPr>
              <a:t>Before (Basic Prompt):</a:t>
            </a:r>
            <a:r>
              <a:rPr lang="en-US" sz="1700" b="1" dirty="0">
                <a:solidFill>
                  <a:srgbClr val="2C1240"/>
                </a:solidFill>
                <a:latin typeface="Khmer UI" panose="020B0502040204020203" pitchFamily="34" charset="0"/>
                <a:cs typeface="Khmer UI" panose="020B0502040204020203" pitchFamily="34" charset="0"/>
                <a:sym typeface="+mn-ea"/>
              </a:rPr>
              <a:t> "</a:t>
            </a:r>
            <a:r>
              <a:rPr lang="en-US" sz="1700" b="1" dirty="0">
                <a:solidFill>
                  <a:srgbClr val="2C1240"/>
                </a:solidFill>
                <a:latin typeface="Calibri Light" panose="020F0302020204030204" charset="0"/>
                <a:cs typeface="Calibri Light" panose="020F0302020204030204" charset="0"/>
                <a:sym typeface="+mn-ea"/>
              </a:rPr>
              <a:t>Explain CRISPR gene editing.</a:t>
            </a:r>
            <a:r>
              <a:rPr lang="en-US" sz="1700" b="1" dirty="0">
                <a:solidFill>
                  <a:srgbClr val="2C1240"/>
                </a:solidFill>
                <a:latin typeface="Khmer UI" panose="020B0502040204020203" pitchFamily="34" charset="0"/>
                <a:cs typeface="Khmer UI" panose="020B0502040204020203" pitchFamily="34" charset="0"/>
                <a:sym typeface="+mn-ea"/>
              </a:rPr>
              <a:t>"</a:t>
            </a:r>
          </a:p>
          <a:p>
            <a:pPr marL="285750" indent="-285750">
              <a:lnSpc>
                <a:spcPct val="100000"/>
              </a:lnSpc>
              <a:spcBef>
                <a:spcPts val="0"/>
              </a:spcBef>
              <a:spcAft>
                <a:spcPts val="400"/>
              </a:spcAft>
              <a:buSzPct val="80000"/>
              <a:buFont typeface="Wingdings" panose="05000000000000000000" charset="0"/>
              <a:buChar char="q"/>
            </a:pPr>
            <a:endParaRPr lang="en-US" sz="1700" b="1" dirty="0">
              <a:solidFill>
                <a:srgbClr val="2C1240"/>
              </a:solidFill>
              <a:latin typeface="Khmer UI" panose="020B0502040204020203" pitchFamily="34" charset="0"/>
              <a:cs typeface="Khmer UI" panose="020B0502040204020203" pitchFamily="34" charset="0"/>
              <a:sym typeface="+mn-ea"/>
            </a:endParaRPr>
          </a:p>
          <a:p>
            <a:pPr marL="285750" indent="-285750">
              <a:lnSpc>
                <a:spcPct val="100000"/>
              </a:lnSpc>
              <a:spcBef>
                <a:spcPts val="0"/>
              </a:spcBef>
              <a:spcAft>
                <a:spcPts val="400"/>
              </a:spcAft>
              <a:buSzPct val="80000"/>
              <a:buFont typeface="Wingdings" panose="05000000000000000000" charset="0"/>
              <a:buChar char="q"/>
            </a:pPr>
            <a:r>
              <a:rPr lang="en-US" sz="1700" dirty="0">
                <a:solidFill>
                  <a:srgbClr val="2C1240"/>
                </a:solidFill>
                <a:latin typeface="Khmer UI" panose="020B0502040204020203" pitchFamily="34" charset="0"/>
                <a:cs typeface="Khmer UI" panose="020B0502040204020203" pitchFamily="34" charset="0"/>
                <a:sym typeface="+mn-ea"/>
              </a:rPr>
              <a:t>After (Well-Engineered Prompt): </a:t>
            </a:r>
          </a:p>
          <a:p>
            <a:pPr indent="0">
              <a:lnSpc>
                <a:spcPct val="100000"/>
              </a:lnSpc>
              <a:spcBef>
                <a:spcPts val="0"/>
              </a:spcBef>
              <a:spcAft>
                <a:spcPts val="400"/>
              </a:spcAft>
              <a:buSzPct val="80000"/>
              <a:buFont typeface="Wingdings" panose="05000000000000000000" charset="0"/>
              <a:buNone/>
            </a:pPr>
            <a:r>
              <a:rPr lang="en-US" sz="1700" b="1" dirty="0">
                <a:solidFill>
                  <a:srgbClr val="2C1240"/>
                </a:solidFill>
                <a:latin typeface="Calibri Light" panose="020F0302020204030204" charset="0"/>
                <a:cs typeface="Calibri Light" panose="020F0302020204030204" charset="0"/>
                <a:sym typeface="+mn-ea"/>
              </a:rPr>
              <a:t>“As a molecular biologist presenting to a group of undergraduate biology students, provide a comprehensive explanation of CRISPR gene editing. Include:</a:t>
            </a:r>
          </a:p>
          <a:p>
            <a:pPr marL="285750" indent="-285750">
              <a:lnSpc>
                <a:spcPct val="100000"/>
              </a:lnSpc>
              <a:spcBef>
                <a:spcPts val="0"/>
              </a:spcBef>
              <a:spcAft>
                <a:spcPts val="400"/>
              </a:spcAft>
              <a:buSzPct val="80000"/>
              <a:buFont typeface="Wingdings" panose="05000000000000000000" charset="0"/>
              <a:buChar char="q"/>
            </a:pPr>
            <a:endParaRPr lang="en-US" sz="1700" b="1" dirty="0">
              <a:solidFill>
                <a:srgbClr val="2C1240"/>
              </a:solidFill>
              <a:latin typeface="Calibri Light" panose="020F0302020204030204" charset="0"/>
              <a:cs typeface="Calibri Light" panose="020F0302020204030204" charset="0"/>
              <a:sym typeface="+mn-ea"/>
            </a:endParaRPr>
          </a:p>
          <a:p>
            <a:pPr indent="0">
              <a:lnSpc>
                <a:spcPct val="100000"/>
              </a:lnSpc>
              <a:spcBef>
                <a:spcPts val="0"/>
              </a:spcBef>
              <a:spcAft>
                <a:spcPts val="400"/>
              </a:spcAft>
              <a:buSzPct val="80000"/>
              <a:buFont typeface="Wingdings" panose="05000000000000000000" charset="0"/>
              <a:buNone/>
            </a:pPr>
            <a:r>
              <a:rPr lang="en-US" sz="1700" b="1" dirty="0">
                <a:solidFill>
                  <a:srgbClr val="2C1240"/>
                </a:solidFill>
                <a:latin typeface="Calibri Light" panose="020F0302020204030204" charset="0"/>
                <a:cs typeface="Calibri Light" panose="020F0302020204030204" charset="0"/>
                <a:sym typeface="+mn-ea"/>
              </a:rPr>
              <a:t>* A brief history of its discovery</a:t>
            </a:r>
          </a:p>
          <a:p>
            <a:pPr indent="0">
              <a:lnSpc>
                <a:spcPct val="100000"/>
              </a:lnSpc>
              <a:spcBef>
                <a:spcPts val="0"/>
              </a:spcBef>
              <a:spcAft>
                <a:spcPts val="400"/>
              </a:spcAft>
              <a:buSzPct val="80000"/>
              <a:buFont typeface="Wingdings" panose="05000000000000000000" charset="0"/>
              <a:buNone/>
            </a:pPr>
            <a:r>
              <a:rPr lang="en-US" sz="1700" b="1" dirty="0">
                <a:solidFill>
                  <a:srgbClr val="2C1240"/>
                </a:solidFill>
                <a:latin typeface="Calibri Light" panose="020F0302020204030204" charset="0"/>
                <a:cs typeface="Calibri Light" panose="020F0302020204030204" charset="0"/>
                <a:sym typeface="+mn-ea"/>
              </a:rPr>
              <a:t>* The key components of the CRISPR-Cas9 system</a:t>
            </a:r>
          </a:p>
          <a:p>
            <a:pPr indent="0">
              <a:lnSpc>
                <a:spcPct val="100000"/>
              </a:lnSpc>
              <a:spcBef>
                <a:spcPts val="0"/>
              </a:spcBef>
              <a:spcAft>
                <a:spcPts val="400"/>
              </a:spcAft>
              <a:buSzPct val="80000"/>
              <a:buFont typeface="Wingdings" panose="05000000000000000000" charset="0"/>
              <a:buNone/>
            </a:pPr>
            <a:r>
              <a:rPr lang="en-US" sz="1700" b="1" dirty="0">
                <a:solidFill>
                  <a:srgbClr val="2C1240"/>
                </a:solidFill>
                <a:latin typeface="Calibri Light" panose="020F0302020204030204" charset="0"/>
                <a:cs typeface="Calibri Light" panose="020F0302020204030204" charset="0"/>
                <a:sym typeface="+mn-ea"/>
              </a:rPr>
              <a:t>* How the editing process works</a:t>
            </a:r>
          </a:p>
          <a:p>
            <a:pPr indent="0">
              <a:lnSpc>
                <a:spcPct val="100000"/>
              </a:lnSpc>
              <a:spcBef>
                <a:spcPts val="0"/>
              </a:spcBef>
              <a:spcAft>
                <a:spcPts val="400"/>
              </a:spcAft>
              <a:buSzPct val="80000"/>
              <a:buFont typeface="Wingdings" panose="05000000000000000000" charset="0"/>
              <a:buNone/>
            </a:pPr>
            <a:r>
              <a:rPr lang="en-US" sz="1700" b="1" dirty="0">
                <a:solidFill>
                  <a:srgbClr val="2C1240"/>
                </a:solidFill>
                <a:latin typeface="Calibri Light" panose="020F0302020204030204" charset="0"/>
                <a:cs typeface="Calibri Light" panose="020F0302020204030204" charset="0"/>
                <a:sym typeface="+mn-ea"/>
              </a:rPr>
              <a:t>* Two potential applications in medicine</a:t>
            </a:r>
          </a:p>
          <a:p>
            <a:pPr indent="0">
              <a:lnSpc>
                <a:spcPct val="100000"/>
              </a:lnSpc>
              <a:spcBef>
                <a:spcPts val="0"/>
              </a:spcBef>
              <a:spcAft>
                <a:spcPts val="400"/>
              </a:spcAft>
              <a:buSzPct val="80000"/>
              <a:buFont typeface="Wingdings" panose="05000000000000000000" charset="0"/>
              <a:buNone/>
            </a:pPr>
            <a:r>
              <a:rPr lang="en-US" sz="1700" b="1" dirty="0">
                <a:solidFill>
                  <a:srgbClr val="2C1240"/>
                </a:solidFill>
                <a:latin typeface="Calibri Light" panose="020F0302020204030204" charset="0"/>
                <a:cs typeface="Calibri Light" panose="020F0302020204030204" charset="0"/>
                <a:sym typeface="+mn-ea"/>
              </a:rPr>
              <a:t>* One ethical concern related to its use</a:t>
            </a:r>
          </a:p>
          <a:p>
            <a:pPr marL="285750" indent="-285750">
              <a:lnSpc>
                <a:spcPct val="100000"/>
              </a:lnSpc>
              <a:spcBef>
                <a:spcPts val="0"/>
              </a:spcBef>
              <a:spcAft>
                <a:spcPts val="400"/>
              </a:spcAft>
              <a:buSzPct val="80000"/>
              <a:buFont typeface="Wingdings" panose="05000000000000000000" charset="0"/>
              <a:buChar char="q"/>
            </a:pPr>
            <a:endParaRPr lang="en-US" sz="1700" b="1" dirty="0">
              <a:solidFill>
                <a:srgbClr val="2C1240"/>
              </a:solidFill>
              <a:latin typeface="Calibri Light" panose="020F0302020204030204" charset="0"/>
              <a:cs typeface="Calibri Light" panose="020F0302020204030204" charset="0"/>
              <a:sym typeface="+mn-ea"/>
            </a:endParaRPr>
          </a:p>
          <a:p>
            <a:pPr indent="0">
              <a:lnSpc>
                <a:spcPct val="100000"/>
              </a:lnSpc>
              <a:spcBef>
                <a:spcPts val="0"/>
              </a:spcBef>
              <a:spcAft>
                <a:spcPts val="400"/>
              </a:spcAft>
              <a:buSzPct val="80000"/>
              <a:buFont typeface="Wingdings" panose="05000000000000000000" charset="0"/>
              <a:buNone/>
            </a:pPr>
            <a:r>
              <a:rPr lang="en-US" sz="1700" b="1" dirty="0">
                <a:solidFill>
                  <a:srgbClr val="2C1240"/>
                </a:solidFill>
                <a:latin typeface="Calibri Light" panose="020F0302020204030204" charset="0"/>
                <a:cs typeface="Calibri Light" panose="020F0302020204030204" charset="0"/>
                <a:sym typeface="+mn-ea"/>
              </a:rPr>
              <a:t>Use clear, accessible language and limit your response to about 250 words. Structure your explanation with subheadings for easy readability.”</a:t>
            </a:r>
            <a:endParaRPr lang="en-US" sz="1700" dirty="0">
              <a:solidFill>
                <a:srgbClr val="2C1240"/>
              </a:solidFill>
              <a:latin typeface="Khmer UI" panose="020B0502040204020203" pitchFamily="34" charset="0"/>
              <a:cs typeface="Khmer UI" panose="020B0502040204020203" pitchFamily="34" charset="0"/>
              <a:sym typeface="+mn-ea"/>
            </a:endParaRPr>
          </a:p>
        </p:txBody>
      </p:sp>
    </p:spTree>
    <p:extLst>
      <p:ext uri="{BB962C8B-B14F-4D97-AF65-F5344CB8AC3E}">
        <p14:creationId xmlns:p14="http://schemas.microsoft.com/office/powerpoint/2010/main" val="1614121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3872-241C-D8D0-D9FA-0AAA405FC8D6}"/>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96CEF82A-01C0-33B4-6407-FAC311DCA42C}"/>
              </a:ext>
            </a:extLst>
          </p:cNvPr>
          <p:cNvSpPr txBox="1"/>
          <p:nvPr/>
        </p:nvSpPr>
        <p:spPr>
          <a:xfrm>
            <a:off x="604838" y="353758"/>
            <a:ext cx="10197274" cy="622901"/>
          </a:xfrm>
          <a:prstGeom prst="rect">
            <a:avLst/>
          </a:prstGeom>
        </p:spPr>
        <p:txBody>
          <a:bodyPr/>
          <a:lstStyle>
            <a:lvl1pPr algn="l" defTabSz="914400" rtl="0" eaLnBrk="1" latinLnBrk="0" hangingPunct="1">
              <a:lnSpc>
                <a:spcPct val="95000"/>
              </a:lnSpc>
              <a:spcBef>
                <a:spcPct val="0"/>
              </a:spcBef>
              <a:buNone/>
              <a:defRPr sz="3000" b="1" kern="1200">
                <a:solidFill>
                  <a:srgbClr val="002068"/>
                </a:solidFill>
                <a:latin typeface="+mj-lt"/>
                <a:ea typeface="+mj-ea"/>
                <a:cs typeface="+mj-cs"/>
              </a:defRPr>
            </a:lvl1pPr>
          </a:lstStyle>
          <a:p>
            <a:r>
              <a:rPr lang="en-US" dirty="0">
                <a:solidFill>
                  <a:srgbClr val="D17957"/>
                </a:solidFill>
                <a:latin typeface="Khmer UI" panose="020B0502040204020203" pitchFamily="34" charset="0"/>
                <a:cs typeface="Khmer UI" panose="020B0502040204020203" pitchFamily="34" charset="0"/>
              </a:rPr>
              <a:t>Examples of Effective Prompts (Cont.)</a:t>
            </a:r>
          </a:p>
        </p:txBody>
      </p:sp>
      <p:sp>
        <p:nvSpPr>
          <p:cNvPr id="3" name="Slide Number Placeholder 2">
            <a:extLst>
              <a:ext uri="{FF2B5EF4-FFF2-40B4-BE49-F238E27FC236}">
                <a16:creationId xmlns:a16="http://schemas.microsoft.com/office/drawing/2014/main" id="{88365E3F-8BF6-45C3-D913-BD2ED4AB4F2E}"/>
              </a:ext>
            </a:extLst>
          </p:cNvPr>
          <p:cNvSpPr>
            <a:spLocks noGrp="1"/>
          </p:cNvSpPr>
          <p:nvPr>
            <p:ph type="sldNum" sz="quarter" idx="12"/>
          </p:nvPr>
        </p:nvSpPr>
        <p:spPr>
          <a:xfrm>
            <a:off x="8610600" y="6356350"/>
            <a:ext cx="2743200" cy="365125"/>
          </a:xfrm>
        </p:spPr>
        <p:txBody>
          <a:bodyPr/>
          <a:lstStyle/>
          <a:p>
            <a:fld id="{03CB0E19-F4C8-4F98-96D2-CE1ECDE59975}" type="slidenum">
              <a:rPr lang="en-GB" smtClean="0"/>
              <a:t>10</a:t>
            </a:fld>
            <a:endParaRPr lang="en-GB"/>
          </a:p>
        </p:txBody>
      </p:sp>
      <p:sp>
        <p:nvSpPr>
          <p:cNvPr id="4" name="TextBox 16">
            <a:extLst>
              <a:ext uri="{FF2B5EF4-FFF2-40B4-BE49-F238E27FC236}">
                <a16:creationId xmlns:a16="http://schemas.microsoft.com/office/drawing/2014/main" id="{4A11F298-8CED-0304-68F6-632FB4FB1F04}"/>
              </a:ext>
            </a:extLst>
          </p:cNvPr>
          <p:cNvSpPr txBox="1"/>
          <p:nvPr/>
        </p:nvSpPr>
        <p:spPr>
          <a:xfrm>
            <a:off x="649605" y="1066165"/>
            <a:ext cx="10197465" cy="3075201"/>
          </a:xfrm>
          <a:prstGeom prst="rect">
            <a:avLst/>
          </a:prstGeom>
          <a:noFill/>
        </p:spPr>
        <p:txBody>
          <a:bodyPr wrap="square" rtlCol="0">
            <a:spAutoFit/>
          </a:bodyPr>
          <a:lstStyle/>
          <a:p>
            <a:pPr indent="0">
              <a:buSzPct val="80000"/>
              <a:buFont typeface="Wingdings" panose="05000000000000000000" charset="0"/>
              <a:buNone/>
            </a:pPr>
            <a:endParaRPr lang="en-US" sz="1750"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q"/>
            </a:pPr>
            <a:r>
              <a:rPr lang="en-US" sz="1700" dirty="0">
                <a:solidFill>
                  <a:srgbClr val="2C1240"/>
                </a:solidFill>
                <a:latin typeface="Khmer UI" panose="020B0502040204020203" pitchFamily="34" charset="0"/>
                <a:cs typeface="Khmer UI" panose="020B0502040204020203" pitchFamily="34" charset="0"/>
                <a:sym typeface="+mn-ea"/>
              </a:rPr>
              <a:t>This well-engineered prompt:</a:t>
            </a:r>
          </a:p>
          <a:p>
            <a:pPr marL="742950" lvl="1" indent="-285750">
              <a:lnSpc>
                <a:spcPct val="100000"/>
              </a:lnSpc>
              <a:spcBef>
                <a:spcPts val="0"/>
              </a:spcBef>
              <a:spcAft>
                <a:spcPts val="400"/>
              </a:spcAft>
              <a:buSzPct val="80000"/>
              <a:buFont typeface="Wingdings" panose="05000000000000000000" charset="0"/>
              <a:buChar char="§"/>
            </a:pPr>
            <a:r>
              <a:rPr lang="en-US" sz="1700" b="1" dirty="0">
                <a:solidFill>
                  <a:srgbClr val="2C1240"/>
                </a:solidFill>
                <a:latin typeface="Khmer UI" panose="020B0502040204020203" pitchFamily="34" charset="0"/>
                <a:cs typeface="Khmer UI" panose="020B0502040204020203" pitchFamily="34" charset="0"/>
                <a:sym typeface="+mn-ea"/>
              </a:rPr>
              <a:t>Provides context </a:t>
            </a:r>
            <a:r>
              <a:rPr lang="en-US" sz="1700" dirty="0">
                <a:solidFill>
                  <a:srgbClr val="2C1240"/>
                </a:solidFill>
                <a:latin typeface="Khmer UI" panose="020B0502040204020203" pitchFamily="34" charset="0"/>
                <a:cs typeface="Khmer UI" panose="020B0502040204020203" pitchFamily="34" charset="0"/>
                <a:sym typeface="+mn-ea"/>
              </a:rPr>
              <a:t>(molecular biologist presenting to students)</a:t>
            </a:r>
          </a:p>
          <a:p>
            <a:pPr marL="742950" lvl="1" indent="-285750">
              <a:lnSpc>
                <a:spcPct val="100000"/>
              </a:lnSpc>
              <a:spcBef>
                <a:spcPts val="0"/>
              </a:spcBef>
              <a:spcAft>
                <a:spcPts val="400"/>
              </a:spcAft>
              <a:buSzPct val="80000"/>
              <a:buFont typeface="Wingdings" panose="05000000000000000000" charset="0"/>
              <a:buChar char="§"/>
            </a:pPr>
            <a:r>
              <a:rPr lang="en-US" sz="1700" b="1" dirty="0">
                <a:solidFill>
                  <a:srgbClr val="2C1240"/>
                </a:solidFill>
                <a:latin typeface="Khmer UI" panose="020B0502040204020203" pitchFamily="34" charset="0"/>
                <a:cs typeface="Khmer UI" panose="020B0502040204020203" pitchFamily="34" charset="0"/>
                <a:sym typeface="+mn-ea"/>
              </a:rPr>
              <a:t>Specifies the audience </a:t>
            </a:r>
            <a:r>
              <a:rPr lang="en-US" sz="1700" dirty="0">
                <a:solidFill>
                  <a:srgbClr val="2C1240"/>
                </a:solidFill>
                <a:latin typeface="Khmer UI" panose="020B0502040204020203" pitchFamily="34" charset="0"/>
                <a:cs typeface="Khmer UI" panose="020B0502040204020203" pitchFamily="34" charset="0"/>
                <a:sym typeface="+mn-ea"/>
              </a:rPr>
              <a:t>(undergraduate biology students)</a:t>
            </a:r>
          </a:p>
          <a:p>
            <a:pPr marL="742950" lvl="1" indent="-285750">
              <a:lnSpc>
                <a:spcPct val="100000"/>
              </a:lnSpc>
              <a:spcBef>
                <a:spcPts val="0"/>
              </a:spcBef>
              <a:spcAft>
                <a:spcPts val="400"/>
              </a:spcAft>
              <a:buSzPct val="80000"/>
              <a:buFont typeface="Wingdings" panose="05000000000000000000" charset="0"/>
              <a:buChar char="§"/>
            </a:pPr>
            <a:r>
              <a:rPr lang="en-US" sz="1700" b="1" dirty="0">
                <a:solidFill>
                  <a:srgbClr val="2C1240"/>
                </a:solidFill>
                <a:latin typeface="Khmer UI" panose="020B0502040204020203" pitchFamily="34" charset="0"/>
                <a:cs typeface="Khmer UI" panose="020B0502040204020203" pitchFamily="34" charset="0"/>
                <a:sym typeface="+mn-ea"/>
              </a:rPr>
              <a:t>Outlines clear objectives </a:t>
            </a:r>
            <a:r>
              <a:rPr lang="en-US" sz="1700" dirty="0">
                <a:solidFill>
                  <a:srgbClr val="2C1240"/>
                </a:solidFill>
                <a:latin typeface="Khmer UI" panose="020B0502040204020203" pitchFamily="34" charset="0"/>
                <a:cs typeface="Khmer UI" panose="020B0502040204020203" pitchFamily="34" charset="0"/>
                <a:sym typeface="+mn-ea"/>
              </a:rPr>
              <a:t>(5 specific points to cover)</a:t>
            </a:r>
          </a:p>
          <a:p>
            <a:pPr marL="742950" lvl="1" indent="-285750">
              <a:lnSpc>
                <a:spcPct val="100000"/>
              </a:lnSpc>
              <a:spcBef>
                <a:spcPts val="0"/>
              </a:spcBef>
              <a:spcAft>
                <a:spcPts val="400"/>
              </a:spcAft>
              <a:buSzPct val="80000"/>
              <a:buFont typeface="Wingdings" panose="05000000000000000000" charset="0"/>
              <a:buChar char="§"/>
            </a:pPr>
            <a:r>
              <a:rPr lang="en-US" sz="1700" b="1" dirty="0">
                <a:solidFill>
                  <a:srgbClr val="2C1240"/>
                </a:solidFill>
                <a:latin typeface="Khmer UI" panose="020B0502040204020203" pitchFamily="34" charset="0"/>
                <a:cs typeface="Khmer UI" panose="020B0502040204020203" pitchFamily="34" charset="0"/>
                <a:sym typeface="+mn-ea"/>
              </a:rPr>
              <a:t>Indicates the desired tone and style </a:t>
            </a:r>
            <a:r>
              <a:rPr lang="en-US" sz="1700" dirty="0">
                <a:solidFill>
                  <a:srgbClr val="2C1240"/>
                </a:solidFill>
                <a:latin typeface="Khmer UI" panose="020B0502040204020203" pitchFamily="34" charset="0"/>
                <a:cs typeface="Khmer UI" panose="020B0502040204020203" pitchFamily="34" charset="0"/>
                <a:sym typeface="+mn-ea"/>
              </a:rPr>
              <a:t>(clear, accessible language)</a:t>
            </a:r>
          </a:p>
          <a:p>
            <a:pPr marL="742950" lvl="1" indent="-285750">
              <a:lnSpc>
                <a:spcPct val="100000"/>
              </a:lnSpc>
              <a:spcBef>
                <a:spcPts val="0"/>
              </a:spcBef>
              <a:spcAft>
                <a:spcPts val="400"/>
              </a:spcAft>
              <a:buSzPct val="80000"/>
              <a:buFont typeface="Wingdings" panose="05000000000000000000" charset="0"/>
              <a:buChar char="§"/>
            </a:pPr>
            <a:r>
              <a:rPr lang="en-US" sz="1700" b="1" dirty="0">
                <a:solidFill>
                  <a:srgbClr val="2C1240"/>
                </a:solidFill>
                <a:latin typeface="Khmer UI" panose="020B0502040204020203" pitchFamily="34" charset="0"/>
                <a:cs typeface="Khmer UI" panose="020B0502040204020203" pitchFamily="34" charset="0"/>
                <a:sym typeface="+mn-ea"/>
              </a:rPr>
              <a:t>Specifies the format </a:t>
            </a:r>
            <a:r>
              <a:rPr lang="en-US" sz="1700" dirty="0">
                <a:solidFill>
                  <a:srgbClr val="2C1240"/>
                </a:solidFill>
                <a:latin typeface="Khmer UI" panose="020B0502040204020203" pitchFamily="34" charset="0"/>
                <a:cs typeface="Khmer UI" panose="020B0502040204020203" pitchFamily="34" charset="0"/>
                <a:sym typeface="+mn-ea"/>
              </a:rPr>
              <a:t>(use of subheadings)</a:t>
            </a:r>
            <a:r>
              <a:rPr lang="en-US" sz="1700" b="1" dirty="0">
                <a:solidFill>
                  <a:srgbClr val="2C1240"/>
                </a:solidFill>
                <a:latin typeface="Khmer UI" panose="020B0502040204020203" pitchFamily="34" charset="0"/>
                <a:cs typeface="Khmer UI" panose="020B0502040204020203" pitchFamily="34" charset="0"/>
                <a:sym typeface="+mn-ea"/>
              </a:rPr>
              <a:t> and length </a:t>
            </a:r>
            <a:r>
              <a:rPr lang="en-US" sz="1700" dirty="0">
                <a:solidFill>
                  <a:srgbClr val="2C1240"/>
                </a:solidFill>
                <a:latin typeface="Khmer UI" panose="020B0502040204020203" pitchFamily="34" charset="0"/>
                <a:cs typeface="Khmer UI" panose="020B0502040204020203" pitchFamily="34" charset="0"/>
                <a:sym typeface="+mn-ea"/>
              </a:rPr>
              <a:t>(about 250 words)</a:t>
            </a:r>
            <a:endParaRPr lang="en-US" sz="1700" b="1" dirty="0">
              <a:solidFill>
                <a:srgbClr val="2C1240"/>
              </a:solidFill>
              <a:latin typeface="Khmer UI" panose="020B0502040204020203" pitchFamily="34" charset="0"/>
              <a:cs typeface="Khmer UI" panose="020B0502040204020203" pitchFamily="34" charset="0"/>
              <a:sym typeface="+mn-ea"/>
            </a:endParaRPr>
          </a:p>
          <a:p>
            <a:pPr lvl="1">
              <a:lnSpc>
                <a:spcPct val="100000"/>
              </a:lnSpc>
              <a:spcBef>
                <a:spcPts val="0"/>
              </a:spcBef>
              <a:spcAft>
                <a:spcPts val="400"/>
              </a:spcAft>
              <a:buSzPct val="80000"/>
            </a:pPr>
            <a:endParaRPr lang="en-US" sz="1700" dirty="0">
              <a:solidFill>
                <a:srgbClr val="2C1240"/>
              </a:solidFill>
              <a:latin typeface="Khmer UI" panose="020B0502040204020203" pitchFamily="34" charset="0"/>
              <a:cs typeface="Khmer UI" panose="020B0502040204020203" pitchFamily="34" charset="0"/>
              <a:sym typeface="+mn-ea"/>
            </a:endParaRPr>
          </a:p>
          <a:p>
            <a:pPr lvl="1">
              <a:lnSpc>
                <a:spcPct val="100000"/>
              </a:lnSpc>
              <a:spcBef>
                <a:spcPts val="0"/>
              </a:spcBef>
              <a:spcAft>
                <a:spcPts val="400"/>
              </a:spcAft>
              <a:buSzPct val="80000"/>
            </a:pPr>
            <a:r>
              <a:rPr lang="en-US" sz="1700" dirty="0">
                <a:solidFill>
                  <a:srgbClr val="2C1240"/>
                </a:solidFill>
                <a:latin typeface="Khmer UI" panose="020B0502040204020203" pitchFamily="34" charset="0"/>
                <a:cs typeface="Khmer UI" panose="020B0502040204020203" pitchFamily="34" charset="0"/>
                <a:sym typeface="+mn-ea"/>
              </a:rPr>
              <a:t>By providing these details, the prompt is more likely to generate a focused, relevant, and well-structured response tailored to the intended audience and purpose.</a:t>
            </a:r>
          </a:p>
        </p:txBody>
      </p:sp>
    </p:spTree>
    <p:extLst>
      <p:ext uri="{BB962C8B-B14F-4D97-AF65-F5344CB8AC3E}">
        <p14:creationId xmlns:p14="http://schemas.microsoft.com/office/powerpoint/2010/main" val="1267859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BFA51-CCEC-5307-5924-CE5E28E0DADE}"/>
            </a:ext>
          </a:extLst>
        </p:cNvPr>
        <p:cNvGrpSpPr/>
        <p:nvPr/>
      </p:nvGrpSpPr>
      <p:grpSpPr>
        <a:xfrm>
          <a:off x="0" y="0"/>
          <a:ext cx="0" cy="0"/>
          <a:chOff x="0" y="0"/>
          <a:chExt cx="0" cy="0"/>
        </a:xfrm>
      </p:grpSpPr>
      <p:pic>
        <p:nvPicPr>
          <p:cNvPr id="15" name="Picture Placeholder 5" descr="One orange paper crane surronded by dark cranes">
            <a:extLst>
              <a:ext uri="{FF2B5EF4-FFF2-40B4-BE49-F238E27FC236}">
                <a16:creationId xmlns:a16="http://schemas.microsoft.com/office/drawing/2014/main" id="{7DCFB5B3-24A8-0226-91E7-0074C447884D}"/>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9438" r="29438"/>
          <a:stretch/>
        </p:blipFill>
        <p:spPr>
          <a:xfrm>
            <a:off x="7500938" y="-22225"/>
            <a:ext cx="4714875" cy="6880225"/>
          </a:xfrm>
        </p:spPr>
      </p:pic>
      <p:sp>
        <p:nvSpPr>
          <p:cNvPr id="2" name="Slide Number Placeholder 2">
            <a:extLst>
              <a:ext uri="{FF2B5EF4-FFF2-40B4-BE49-F238E27FC236}">
                <a16:creationId xmlns:a16="http://schemas.microsoft.com/office/drawing/2014/main" id="{8CBCC370-5AFE-3348-3F08-49885D30AE68}"/>
              </a:ext>
            </a:extLst>
          </p:cNvPr>
          <p:cNvSpPr txBox="1">
            <a:spLocks/>
          </p:cNvSpPr>
          <p:nvPr/>
        </p:nvSpPr>
        <p:spPr>
          <a:xfrm>
            <a:off x="8075762" y="649287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3CB0E19-F4C8-4F98-96D2-CE1ECDE59975}" type="slidenum">
              <a:rPr lang="en-GB" smtClean="0"/>
              <a:pPr/>
              <a:t>11</a:t>
            </a:fld>
            <a:endParaRPr lang="en-GB"/>
          </a:p>
        </p:txBody>
      </p:sp>
      <p:sp>
        <p:nvSpPr>
          <p:cNvPr id="3" name="Title 5">
            <a:extLst>
              <a:ext uri="{FF2B5EF4-FFF2-40B4-BE49-F238E27FC236}">
                <a16:creationId xmlns:a16="http://schemas.microsoft.com/office/drawing/2014/main" id="{9CF6B2A1-19AF-0687-758C-CC761CC42021}"/>
              </a:ext>
            </a:extLst>
          </p:cNvPr>
          <p:cNvSpPr txBox="1"/>
          <p:nvPr/>
        </p:nvSpPr>
        <p:spPr>
          <a:xfrm>
            <a:off x="190769" y="473030"/>
            <a:ext cx="7357343" cy="622901"/>
          </a:xfrm>
          <a:prstGeom prst="rect">
            <a:avLst/>
          </a:prstGeom>
        </p:spPr>
        <p:txBody>
          <a:bodyPr/>
          <a:lstStyle>
            <a:lvl1pPr algn="l" defTabSz="914400" rtl="0" eaLnBrk="1" latinLnBrk="0" hangingPunct="1">
              <a:lnSpc>
                <a:spcPct val="95000"/>
              </a:lnSpc>
              <a:spcBef>
                <a:spcPct val="0"/>
              </a:spcBef>
              <a:buNone/>
              <a:defRPr sz="3000" b="1" kern="1200">
                <a:solidFill>
                  <a:srgbClr val="002068"/>
                </a:solidFill>
                <a:latin typeface="+mj-lt"/>
                <a:ea typeface="+mj-ea"/>
                <a:cs typeface="+mj-cs"/>
              </a:defRPr>
            </a:lvl1pPr>
          </a:lstStyle>
          <a:p>
            <a:r>
              <a:rPr lang="en-US" dirty="0">
                <a:solidFill>
                  <a:srgbClr val="D17957"/>
                </a:solidFill>
                <a:latin typeface="Khmer UI" panose="020B0502040204020203" pitchFamily="34" charset="0"/>
                <a:cs typeface="Khmer UI" panose="020B0502040204020203" pitchFamily="34" charset="0"/>
              </a:rPr>
              <a:t>Start your Prompt Engineering</a:t>
            </a:r>
          </a:p>
          <a:p>
            <a:r>
              <a:rPr lang="en-US" dirty="0">
                <a:solidFill>
                  <a:srgbClr val="D17957"/>
                </a:solidFill>
                <a:latin typeface="Khmer UI" panose="020B0502040204020203" pitchFamily="34" charset="0"/>
                <a:cs typeface="Khmer UI" panose="020B0502040204020203" pitchFamily="34" charset="0"/>
              </a:rPr>
              <a:t>Journey!</a:t>
            </a:r>
          </a:p>
        </p:txBody>
      </p:sp>
      <p:sp>
        <p:nvSpPr>
          <p:cNvPr id="4" name="TextBox 3">
            <a:extLst>
              <a:ext uri="{FF2B5EF4-FFF2-40B4-BE49-F238E27FC236}">
                <a16:creationId xmlns:a16="http://schemas.microsoft.com/office/drawing/2014/main" id="{BF3FF366-7576-A332-A878-1A3EE1E1269E}"/>
              </a:ext>
            </a:extLst>
          </p:cNvPr>
          <p:cNvSpPr txBox="1"/>
          <p:nvPr/>
        </p:nvSpPr>
        <p:spPr>
          <a:xfrm>
            <a:off x="190769" y="1997338"/>
            <a:ext cx="6010275" cy="3119120"/>
          </a:xfrm>
          <a:prstGeom prst="rect">
            <a:avLst/>
          </a:prstGeom>
          <a:noFill/>
        </p:spPr>
        <p:txBody>
          <a:bodyPr wrap="square" rtlCol="0">
            <a:noAutofit/>
          </a:bodyPr>
          <a:lstStyle/>
          <a:p>
            <a:pPr indent="0">
              <a:buSzPct val="80000"/>
              <a:buFont typeface="Wingdings" panose="05000000000000000000" charset="0"/>
              <a:buNone/>
            </a:pPr>
            <a:r>
              <a:rPr lang="en-US" sz="1750" b="1" dirty="0">
                <a:solidFill>
                  <a:srgbClr val="2C1240"/>
                </a:solidFill>
                <a:latin typeface="Khmer UI" panose="020B0502040204020203" pitchFamily="34" charset="0"/>
                <a:cs typeface="Khmer UI" panose="020B0502040204020203" pitchFamily="34" charset="0"/>
              </a:rPr>
              <a:t>Key Take-aways:</a:t>
            </a:r>
          </a:p>
          <a:p>
            <a:pPr indent="0">
              <a:buSzPct val="80000"/>
              <a:buFont typeface="Wingdings" panose="05000000000000000000" charset="0"/>
              <a:buNone/>
            </a:pPr>
            <a:endParaRPr lang="en-US" sz="1750"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
            </a:pPr>
            <a:r>
              <a:rPr lang="en-US" sz="1750" b="1" dirty="0">
                <a:solidFill>
                  <a:srgbClr val="2C1240"/>
                </a:solidFill>
                <a:latin typeface="Khmer UI" panose="020B0502040204020203" pitchFamily="34" charset="0"/>
                <a:cs typeface="Khmer UI" panose="020B0502040204020203" pitchFamily="34" charset="0"/>
              </a:rPr>
              <a:t>Mix and match</a:t>
            </a:r>
            <a:r>
              <a:rPr lang="en-US" sz="1750" dirty="0">
                <a:solidFill>
                  <a:srgbClr val="2C1240"/>
                </a:solidFill>
                <a:latin typeface="Khmer UI" panose="020B0502040204020203" pitchFamily="34" charset="0"/>
                <a:cs typeface="Khmer UI" panose="020B0502040204020203" pitchFamily="34" charset="0"/>
              </a:rPr>
              <a:t> CO-STAR elements as needed</a:t>
            </a:r>
          </a:p>
          <a:p>
            <a:pPr marL="285750" indent="-285750">
              <a:lnSpc>
                <a:spcPct val="100000"/>
              </a:lnSpc>
              <a:spcBef>
                <a:spcPts val="0"/>
              </a:spcBef>
              <a:spcAft>
                <a:spcPts val="400"/>
              </a:spcAft>
              <a:buSzPct val="80000"/>
              <a:buFont typeface="Wingdings" panose="05000000000000000000" charset="0"/>
              <a:buChar char="§"/>
            </a:pPr>
            <a:r>
              <a:rPr lang="en-US" sz="1750" dirty="0">
                <a:solidFill>
                  <a:srgbClr val="2C1240"/>
                </a:solidFill>
                <a:latin typeface="Khmer UI" panose="020B0502040204020203" pitchFamily="34" charset="0"/>
                <a:cs typeface="Khmer UI" panose="020B0502040204020203" pitchFamily="34" charset="0"/>
                <a:sym typeface="+mn-ea"/>
              </a:rPr>
              <a:t>Be </a:t>
            </a:r>
            <a:r>
              <a:rPr lang="en-US" sz="1750" b="1" dirty="0">
                <a:solidFill>
                  <a:srgbClr val="2C1240"/>
                </a:solidFill>
                <a:latin typeface="Khmer UI" panose="020B0502040204020203" pitchFamily="34" charset="0"/>
                <a:cs typeface="Khmer UI" panose="020B0502040204020203" pitchFamily="34" charset="0"/>
                <a:sym typeface="+mn-ea"/>
              </a:rPr>
              <a:t>specific </a:t>
            </a:r>
            <a:r>
              <a:rPr lang="en-US" sz="1750" dirty="0">
                <a:solidFill>
                  <a:srgbClr val="2C1240"/>
                </a:solidFill>
                <a:latin typeface="Khmer UI" panose="020B0502040204020203" pitchFamily="34" charset="0"/>
                <a:cs typeface="Khmer UI" panose="020B0502040204020203" pitchFamily="34" charset="0"/>
                <a:sym typeface="+mn-ea"/>
              </a:rPr>
              <a:t>to get more targeted responses</a:t>
            </a:r>
            <a:endParaRPr lang="en-US" sz="1750" b="1"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
            </a:pPr>
            <a:r>
              <a:rPr lang="en-US" sz="1750" b="1" dirty="0">
                <a:solidFill>
                  <a:srgbClr val="2C1240"/>
                </a:solidFill>
                <a:latin typeface="Khmer UI" panose="020B0502040204020203" pitchFamily="34" charset="0"/>
                <a:cs typeface="Khmer UI" panose="020B0502040204020203" pitchFamily="34" charset="0"/>
              </a:rPr>
              <a:t>Iterate </a:t>
            </a:r>
            <a:r>
              <a:rPr lang="en-US" sz="1750" dirty="0">
                <a:solidFill>
                  <a:srgbClr val="2C1240"/>
                </a:solidFill>
                <a:latin typeface="Khmer UI" panose="020B0502040204020203" pitchFamily="34" charset="0"/>
                <a:cs typeface="Khmer UI" panose="020B0502040204020203" pitchFamily="34" charset="0"/>
              </a:rPr>
              <a:t>and </a:t>
            </a:r>
            <a:r>
              <a:rPr lang="en-US" sz="1750" b="1" dirty="0">
                <a:solidFill>
                  <a:srgbClr val="2C1240"/>
                </a:solidFill>
                <a:latin typeface="Khmer UI" panose="020B0502040204020203" pitchFamily="34" charset="0"/>
                <a:cs typeface="Khmer UI" panose="020B0502040204020203" pitchFamily="34" charset="0"/>
              </a:rPr>
              <a:t>refine </a:t>
            </a:r>
            <a:r>
              <a:rPr lang="en-US" sz="1750" dirty="0">
                <a:solidFill>
                  <a:srgbClr val="2C1240"/>
                </a:solidFill>
                <a:latin typeface="Khmer UI" panose="020B0502040204020203" pitchFamily="34" charset="0"/>
                <a:cs typeface="Khmer UI" panose="020B0502040204020203" pitchFamily="34" charset="0"/>
              </a:rPr>
              <a:t>prompts for better results</a:t>
            </a:r>
          </a:p>
          <a:p>
            <a:pPr marL="285750" indent="-285750">
              <a:lnSpc>
                <a:spcPct val="100000"/>
              </a:lnSpc>
              <a:spcBef>
                <a:spcPts val="0"/>
              </a:spcBef>
              <a:spcAft>
                <a:spcPts val="400"/>
              </a:spcAft>
              <a:buSzPct val="80000"/>
              <a:buFont typeface="Wingdings" panose="05000000000000000000" charset="0"/>
              <a:buChar char="§"/>
            </a:pPr>
            <a:r>
              <a:rPr lang="en-US" sz="1750" b="1" dirty="0">
                <a:solidFill>
                  <a:srgbClr val="2C1240"/>
                </a:solidFill>
                <a:latin typeface="Khmer UI" panose="020B0502040204020203" pitchFamily="34" charset="0"/>
                <a:cs typeface="Khmer UI" panose="020B0502040204020203" pitchFamily="34" charset="0"/>
                <a:sym typeface="+mn-ea"/>
              </a:rPr>
              <a:t>Follow</a:t>
            </a:r>
            <a:r>
              <a:rPr lang="en-US" sz="1750" dirty="0">
                <a:solidFill>
                  <a:srgbClr val="2C1240"/>
                </a:solidFill>
                <a:latin typeface="Khmer UI" panose="020B0502040204020203" pitchFamily="34" charset="0"/>
                <a:cs typeface="Khmer UI" panose="020B0502040204020203" pitchFamily="34" charset="0"/>
                <a:sym typeface="+mn-ea"/>
              </a:rPr>
              <a:t> the </a:t>
            </a:r>
            <a:r>
              <a:rPr lang="en-US" sz="1750" b="1" dirty="0">
                <a:solidFill>
                  <a:srgbClr val="2C1240"/>
                </a:solidFill>
                <a:latin typeface="Khmer UI" panose="020B0502040204020203" pitchFamily="34" charset="0"/>
                <a:cs typeface="Khmer UI" panose="020B0502040204020203" pitchFamily="34" charset="0"/>
                <a:sym typeface="+mn-ea"/>
              </a:rPr>
              <a:t>best practices</a:t>
            </a:r>
            <a:r>
              <a:rPr lang="en-US" sz="1750" dirty="0">
                <a:solidFill>
                  <a:srgbClr val="2C1240"/>
                </a:solidFill>
                <a:latin typeface="Khmer UI" panose="020B0502040204020203" pitchFamily="34" charset="0"/>
                <a:cs typeface="Khmer UI" panose="020B0502040204020203" pitchFamily="34" charset="0"/>
                <a:sym typeface="+mn-ea"/>
              </a:rPr>
              <a:t> to get best results</a:t>
            </a:r>
            <a:endParaRPr lang="en-US" sz="1750" dirty="0">
              <a:solidFill>
                <a:srgbClr val="2C1240"/>
              </a:solidFill>
              <a:latin typeface="Khmer UI" panose="020B0502040204020203" pitchFamily="34" charset="0"/>
              <a:cs typeface="Khmer UI" panose="020B0502040204020203" pitchFamily="34" charset="0"/>
            </a:endParaRPr>
          </a:p>
          <a:p>
            <a:pPr marL="285750" indent="-285750">
              <a:lnSpc>
                <a:spcPct val="100000"/>
              </a:lnSpc>
              <a:spcBef>
                <a:spcPts val="0"/>
              </a:spcBef>
              <a:spcAft>
                <a:spcPts val="400"/>
              </a:spcAft>
              <a:buSzPct val="80000"/>
              <a:buFont typeface="Wingdings" panose="05000000000000000000" charset="0"/>
              <a:buChar char="§"/>
            </a:pPr>
            <a:r>
              <a:rPr lang="en-US" sz="1750" dirty="0">
                <a:solidFill>
                  <a:srgbClr val="2C1240"/>
                </a:solidFill>
                <a:latin typeface="Khmer UI" panose="020B0502040204020203" pitchFamily="34" charset="0"/>
                <a:cs typeface="Khmer UI" panose="020B0502040204020203" pitchFamily="34" charset="0"/>
              </a:rPr>
              <a:t>Consider the AI's perspective when crafting prompts</a:t>
            </a:r>
          </a:p>
          <a:p>
            <a:pPr marL="285750" indent="-285750">
              <a:lnSpc>
                <a:spcPct val="100000"/>
              </a:lnSpc>
              <a:spcBef>
                <a:spcPts val="0"/>
              </a:spcBef>
              <a:spcAft>
                <a:spcPts val="400"/>
              </a:spcAft>
              <a:buSzPct val="80000"/>
              <a:buFont typeface="Wingdings" panose="05000000000000000000" charset="0"/>
              <a:buChar char="§"/>
            </a:pPr>
            <a:r>
              <a:rPr lang="en-US" sz="1750" dirty="0">
                <a:solidFill>
                  <a:srgbClr val="2C1240"/>
                </a:solidFill>
                <a:latin typeface="Khmer UI" panose="020B0502040204020203" pitchFamily="34" charset="0"/>
                <a:cs typeface="Khmer UI" panose="020B0502040204020203" pitchFamily="34" charset="0"/>
              </a:rPr>
              <a:t>Visualize your desired output before writing the prompt</a:t>
            </a:r>
          </a:p>
          <a:p>
            <a:pPr marL="285750" indent="-285750">
              <a:lnSpc>
                <a:spcPct val="100000"/>
              </a:lnSpc>
              <a:spcBef>
                <a:spcPts val="0"/>
              </a:spcBef>
              <a:spcAft>
                <a:spcPts val="400"/>
              </a:spcAft>
              <a:buSzPct val="80000"/>
              <a:buFont typeface="Wingdings" panose="05000000000000000000" charset="0"/>
              <a:buChar char="§"/>
            </a:pPr>
            <a:r>
              <a:rPr lang="en-US" sz="1750" dirty="0">
                <a:solidFill>
                  <a:srgbClr val="2C1240"/>
                </a:solidFill>
                <a:latin typeface="Khmer UI" panose="020B0502040204020203" pitchFamily="34" charset="0"/>
                <a:cs typeface="Khmer UI" panose="020B0502040204020203" pitchFamily="34" charset="0"/>
              </a:rPr>
              <a:t>Always </a:t>
            </a:r>
            <a:r>
              <a:rPr lang="en-US" sz="1750" b="1" dirty="0">
                <a:solidFill>
                  <a:srgbClr val="2C1240"/>
                </a:solidFill>
                <a:latin typeface="Khmer UI" panose="020B0502040204020203" pitchFamily="34" charset="0"/>
                <a:cs typeface="Khmer UI" panose="020B0502040204020203" pitchFamily="34" charset="0"/>
              </a:rPr>
              <a:t>verify critical information</a:t>
            </a:r>
            <a:r>
              <a:rPr lang="en-US" sz="1750" dirty="0">
                <a:solidFill>
                  <a:srgbClr val="2C1240"/>
                </a:solidFill>
                <a:latin typeface="Khmer UI" panose="020B0502040204020203" pitchFamily="34" charset="0"/>
                <a:cs typeface="Khmer UI" panose="020B0502040204020203" pitchFamily="34" charset="0"/>
              </a:rPr>
              <a:t> from AI responses</a:t>
            </a:r>
          </a:p>
          <a:p>
            <a:pPr marL="285750" indent="-285750">
              <a:lnSpc>
                <a:spcPct val="100000"/>
              </a:lnSpc>
              <a:spcBef>
                <a:spcPts val="0"/>
              </a:spcBef>
              <a:spcAft>
                <a:spcPts val="400"/>
              </a:spcAft>
              <a:buSzPct val="80000"/>
              <a:buFont typeface="Wingdings" panose="05000000000000000000" charset="0"/>
              <a:buChar char="§"/>
            </a:pPr>
            <a:r>
              <a:rPr lang="en-US" sz="1750" b="1" dirty="0">
                <a:solidFill>
                  <a:srgbClr val="2C1240"/>
                </a:solidFill>
                <a:latin typeface="Khmer UI" panose="020B0502040204020203" pitchFamily="34" charset="0"/>
                <a:cs typeface="Khmer UI" panose="020B0502040204020203" pitchFamily="34" charset="0"/>
                <a:sym typeface="+mn-ea"/>
              </a:rPr>
              <a:t>Remember:</a:t>
            </a:r>
            <a:r>
              <a:rPr lang="en-US" sz="1750" dirty="0">
                <a:solidFill>
                  <a:srgbClr val="2C1240"/>
                </a:solidFill>
                <a:latin typeface="Khmer UI" panose="020B0502040204020203" pitchFamily="34" charset="0"/>
                <a:cs typeface="Khmer UI" panose="020B0502040204020203" pitchFamily="34" charset="0"/>
                <a:sym typeface="+mn-ea"/>
              </a:rPr>
              <a:t> You're the star, the AI is your co-star!</a:t>
            </a:r>
            <a:endParaRPr lang="en-US" sz="1750" dirty="0">
              <a:solidFill>
                <a:srgbClr val="2C1240"/>
              </a:solidFill>
              <a:latin typeface="Khmer UI" panose="020B0502040204020203" pitchFamily="34" charset="0"/>
              <a:cs typeface="Khmer UI" panose="020B0502040204020203" pitchFamily="34" charset="0"/>
            </a:endParaRPr>
          </a:p>
        </p:txBody>
      </p:sp>
    </p:spTree>
    <p:extLst>
      <p:ext uri="{BB962C8B-B14F-4D97-AF65-F5344CB8AC3E}">
        <p14:creationId xmlns:p14="http://schemas.microsoft.com/office/powerpoint/2010/main" val="1791055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13" name="Title 1">
            <a:extLst>
              <a:ext uri="{FF2B5EF4-FFF2-40B4-BE49-F238E27FC236}">
                <a16:creationId xmlns:a16="http://schemas.microsoft.com/office/drawing/2014/main" id="{287A6A74-EC7B-B652-ED42-8275991057A7}"/>
              </a:ext>
            </a:extLst>
          </p:cNvPr>
          <p:cNvSpPr txBox="1">
            <a:spLocks/>
          </p:cNvSpPr>
          <p:nvPr/>
        </p:nvSpPr>
        <p:spPr>
          <a:xfrm>
            <a:off x="604838" y="1376363"/>
            <a:ext cx="6253162" cy="2276399"/>
          </a:xfrm>
          <a:prstGeom prst="rect">
            <a:avLst/>
          </a:prstGeom>
        </p:spPr>
        <p:txBody>
          <a:bodyPr vert="horz" lIns="91440" tIns="45720" rIns="91440" bIns="45720" rtlCol="0" anchor="b">
            <a:noAutofit/>
          </a:bodyPr>
          <a:lstStyle>
            <a:lvl1pPr algn="ctr" defTabSz="914400" rtl="0" eaLnBrk="1" latinLnBrk="0" hangingPunct="1">
              <a:lnSpc>
                <a:spcPct val="90000"/>
              </a:lnSpc>
              <a:spcBef>
                <a:spcPts val="1000"/>
              </a:spcBef>
              <a:buNone/>
              <a:defRPr sz="4800" kern="1200" cap="all" spc="300" baseline="0">
                <a:solidFill>
                  <a:schemeClr val="bg1"/>
                </a:solidFill>
                <a:latin typeface="+mj-lt"/>
                <a:ea typeface="+mj-ea"/>
                <a:cs typeface="+mj-cs"/>
              </a:defRPr>
            </a:lvl1pPr>
          </a:lstStyle>
          <a:p>
            <a:pPr algn="l"/>
            <a:r>
              <a:rPr lang="en-US" b="1" dirty="0">
                <a:solidFill>
                  <a:srgbClr val="D17957"/>
                </a:solidFill>
              </a:rPr>
              <a:t>Ask your AI Sherpa</a:t>
            </a:r>
          </a:p>
        </p:txBody>
      </p:sp>
      <p:sp>
        <p:nvSpPr>
          <p:cNvPr id="14" name="Subtitle 3">
            <a:extLst>
              <a:ext uri="{FF2B5EF4-FFF2-40B4-BE49-F238E27FC236}">
                <a16:creationId xmlns:a16="http://schemas.microsoft.com/office/drawing/2014/main" id="{81066E4F-E139-6EC9-73D8-D6658AB35247}"/>
              </a:ext>
            </a:extLst>
          </p:cNvPr>
          <p:cNvSpPr txBox="1">
            <a:spLocks/>
          </p:cNvSpPr>
          <p:nvPr/>
        </p:nvSpPr>
        <p:spPr>
          <a:xfrm>
            <a:off x="630238" y="3981374"/>
            <a:ext cx="5465762" cy="10477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E6965B"/>
                </a:solidFill>
              </a:rPr>
              <a:t>Any Questions?</a:t>
            </a:r>
          </a:p>
        </p:txBody>
      </p:sp>
      <p:sp>
        <p:nvSpPr>
          <p:cNvPr id="15" name="Slide Number Placeholder 2">
            <a:extLst>
              <a:ext uri="{FF2B5EF4-FFF2-40B4-BE49-F238E27FC236}">
                <a16:creationId xmlns:a16="http://schemas.microsoft.com/office/drawing/2014/main" id="{A367C767-281E-7E83-88E4-EC11473B53B5}"/>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3CB0E19-F4C8-4F98-96D2-CE1ECDE59975}" type="slidenum">
              <a:rPr lang="en-GB" smtClean="0"/>
              <a:pPr/>
              <a:t>12</a:t>
            </a:fld>
            <a:endParaRPr lang="en-GB"/>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{D8DDBE2E-0B57-4E17-BE30-25BE5E41BC74}tf55661986_win32</Template>
  <TotalTime>21</TotalTime>
  <Words>1280</Words>
  <Application>Microsoft Office PowerPoint</Application>
  <PresentationFormat>Widescreen</PresentationFormat>
  <Paragraphs>138</Paragraphs>
  <Slides>12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Arial</vt:lpstr>
      <vt:lpstr>Calibri</vt:lpstr>
      <vt:lpstr>Calibri Light</vt:lpstr>
      <vt:lpstr>Khmer UI</vt:lpstr>
      <vt:lpstr>Times New Roman</vt:lpstr>
      <vt:lpstr>Wingdings</vt:lpstr>
      <vt:lpstr>Custom</vt:lpstr>
      <vt:lpstr>PowerPoint Presentation</vt:lpstr>
      <vt:lpstr>AGENDA</vt:lpstr>
      <vt:lpstr>Promptology 101: What even is a Prompt ?!</vt:lpstr>
      <vt:lpstr>Unlocking the Magic: The case for Prompt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Surya Pradeep Varma</dc:creator>
  <cp:lastModifiedBy>Surya Pradeep Varma</cp:lastModifiedBy>
  <cp:revision>33</cp:revision>
  <dcterms:created xsi:type="dcterms:W3CDTF">2024-11-30T07:02:57Z</dcterms:created>
  <dcterms:modified xsi:type="dcterms:W3CDTF">2024-11-30T07:24:04Z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